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1371600"/>
            <a:ext cx="5486400" cy="5486400"/>
          </a:xfrm>
          <a:prstGeom prst="ellipse">
            <a:avLst/>
          </a:prstGeom>
          <a:solidFill>
            <a:srgbClr val="231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transparent.png"/>
          <p:cNvPicPr>
            <a:picLocks noChangeAspect="1"/>
          </p:cNvPicPr>
          <p:nvPr/>
        </p:nvPicPr>
        <p:blipFill>
          <a:blip r:embed="rId2"/>
          <a:stretch>
            <a:fillRect/>
          </a:stretch>
        </p:blipFill>
        <p:spPr>
          <a:xfrm>
            <a:off x="1097280" y="1097280"/>
            <a:ext cx="1252025" cy="1188720"/>
          </a:xfrm>
          <a:prstGeom prst="rect">
            <a:avLst/>
          </a:prstGeom>
        </p:spPr>
      </p:pic>
      <p:sp>
        <p:nvSpPr>
          <p:cNvPr id="6" name="Rounded Rectangle 5"/>
          <p:cNvSpPr/>
          <p:nvPr/>
        </p:nvSpPr>
        <p:spPr>
          <a:xfrm>
            <a:off x="1097280" y="2651760"/>
            <a:ext cx="3291840" cy="365760"/>
          </a:xfrm>
          <a:prstGeom prst="roundRect">
            <a:avLst/>
          </a:prstGeom>
          <a:solidFill>
            <a:srgbClr val="281C14"/>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FF6B00"/>
                </a:solidFill>
                <a:latin typeface="Arial Black"/>
              </a:defRPr>
            </a:pPr>
            <a:r>
              <a:t>★ BEDRIJFSPLAN 2026 - 2028</a:t>
            </a:r>
          </a:p>
        </p:txBody>
      </p:sp>
      <p:sp>
        <p:nvSpPr>
          <p:cNvPr id="7" name="TextBox 6"/>
          <p:cNvSpPr txBox="1"/>
          <p:nvPr/>
        </p:nvSpPr>
        <p:spPr>
          <a:xfrm>
            <a:off x="1097280" y="3154680"/>
            <a:ext cx="9144000" cy="1645920"/>
          </a:xfrm>
          <a:prstGeom prst="rect">
            <a:avLst/>
          </a:prstGeom>
          <a:noFill/>
        </p:spPr>
        <p:txBody>
          <a:bodyPr wrap="square" lIns="0" tIns="0">
            <a:spAutoFit/>
          </a:bodyPr>
          <a:lstStyle/>
          <a:p>
            <a:pPr>
              <a:defRPr sz="4000" b="1">
                <a:solidFill>
                  <a:srgbClr val="FFFFFF"/>
                </a:solidFill>
                <a:latin typeface="Arial Black"/>
              </a:defRPr>
            </a:pPr>
            <a:r>
              <a:t>DYNAMIEK &amp; SNELHEID</a:t>
            </a:r>
          </a:p>
          <a:p>
            <a:pPr>
              <a:spcBef>
                <a:spcPts val="800"/>
              </a:spcBef>
              <a:defRPr sz="2000" b="1">
                <a:solidFill>
                  <a:srgbClr val="FF6B00"/>
                </a:solidFill>
                <a:latin typeface="Arial"/>
              </a:defRPr>
            </a:pPr>
            <a:r>
              <a:t>Het sportieve bedrijfsuitje &amp; vitaliteit op de werkvloer</a:t>
            </a:r>
          </a:p>
        </p:txBody>
      </p:sp>
      <p:sp>
        <p:nvSpPr>
          <p:cNvPr id="8" name="TextBox 7"/>
          <p:cNvSpPr txBox="1"/>
          <p:nvPr/>
        </p:nvSpPr>
        <p:spPr>
          <a:xfrm>
            <a:off x="1097280" y="4937760"/>
            <a:ext cx="7315200" cy="1280160"/>
          </a:xfrm>
          <a:prstGeom prst="rect">
            <a:avLst/>
          </a:prstGeom>
          <a:noFill/>
        </p:spPr>
        <p:txBody>
          <a:bodyPr wrap="none" lIns="0">
            <a:spAutoFit/>
          </a:bodyPr>
          <a:lstStyle/>
          <a:p>
            <a:pPr>
              <a:defRPr sz="1300" b="1">
                <a:solidFill>
                  <a:srgbClr val="D2D2D7"/>
                </a:solidFill>
                <a:latin typeface="Arial Black"/>
              </a:defRPr>
            </a:pPr>
            <a:r>
              <a:t>Oprichter &amp; Hoofdtrainer: Edward Westhoff</a:t>
            </a:r>
          </a:p>
          <a:p>
            <a:pPr>
              <a:spcBef>
                <a:spcPts val="400"/>
              </a:spcBef>
              <a:defRPr sz="1100">
                <a:solidFill>
                  <a:srgbClr val="8C8C96"/>
                </a:solidFill>
                <a:latin typeface="Arial"/>
              </a:defRPr>
            </a:pPr>
            <a:r>
              <a:t>TT Clinics  |  info@ttclinics.nl  |  www.ttclinics.nl  |  Heel Nederland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SAMENVATTING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Executive Summary: De Kracht van TT Clinics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2</a:t>
            </a:r>
          </a:p>
        </p:txBody>
      </p:sp>
      <p:sp>
        <p:nvSpPr>
          <p:cNvPr id="9" name="Rounded Rectangle 8"/>
          <p:cNvSpPr/>
          <p:nvPr/>
        </p:nvSpPr>
        <p:spPr>
          <a:xfrm>
            <a:off x="73152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20"/>
            <a:ext cx="4709160" cy="1600200"/>
          </a:xfrm>
          <a:prstGeom prst="rect">
            <a:avLst/>
          </a:prstGeom>
          <a:noFill/>
        </p:spPr>
        <p:txBody>
          <a:bodyPr wrap="square" lIns="0" tIns="0">
            <a:spAutoFit/>
          </a:bodyPr>
          <a:lstStyle/>
          <a:p>
            <a:pPr>
              <a:defRPr sz="1300" b="1">
                <a:solidFill>
                  <a:srgbClr val="FF6B00"/>
                </a:solidFill>
                <a:latin typeface="Arial Black"/>
              </a:defRPr>
            </a:pPr>
            <a:r>
              <a:t>HET CONCEPT</a:t>
            </a:r>
          </a:p>
          <a:p>
            <a:pPr>
              <a:spcBef>
                <a:spcPts val="800"/>
              </a:spcBef>
              <a:defRPr sz="1100">
                <a:solidFill>
                  <a:srgbClr val="D2D2D7"/>
                </a:solidFill>
                <a:latin typeface="Arial"/>
              </a:defRPr>
            </a:pPr>
            <a:r>
              <a:t>Laagdrempelige, energieke tafeltennisclinics en bedrijfsuitjes voor MKB en corporate teams. Binnen 5 minuten ontstaat er plezier, gezonde rivaliteit en maximale teamdynamiek.</a:t>
            </a:r>
          </a:p>
        </p:txBody>
      </p:sp>
      <p:sp>
        <p:nvSpPr>
          <p:cNvPr id="12" name="Rounded Rectangle 11"/>
          <p:cNvSpPr/>
          <p:nvPr/>
        </p:nvSpPr>
        <p:spPr>
          <a:xfrm>
            <a:off x="617220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74520"/>
            <a:ext cx="4709160" cy="1600200"/>
          </a:xfrm>
          <a:prstGeom prst="rect">
            <a:avLst/>
          </a:prstGeom>
          <a:noFill/>
        </p:spPr>
        <p:txBody>
          <a:bodyPr wrap="square" lIns="0" tIns="0">
            <a:spAutoFit/>
          </a:bodyPr>
          <a:lstStyle/>
          <a:p>
            <a:pPr>
              <a:defRPr sz="1300" b="1">
                <a:solidFill>
                  <a:srgbClr val="FFFFFF"/>
                </a:solidFill>
                <a:latin typeface="Arial Black"/>
              </a:defRPr>
            </a:pPr>
            <a:r>
              <a:t>DE MISSIE</a:t>
            </a:r>
          </a:p>
          <a:p>
            <a:pPr>
              <a:spcBef>
                <a:spcPts val="800"/>
              </a:spcBef>
              <a:defRPr sz="1100">
                <a:solidFill>
                  <a:srgbClr val="D2D2D7"/>
                </a:solidFill>
                <a:latin typeface="Arial"/>
              </a:defRPr>
            </a:pPr>
            <a:r>
              <a:t>Teams verbinden, beeldschermmoeheid doorbreken en vitaliteit bevorderen met 'schaken op topsnelheid'. Tafeltennis is fysiek én mentaal de ultieme breinfitness.</a:t>
            </a:r>
          </a:p>
        </p:txBody>
      </p:sp>
      <p:sp>
        <p:nvSpPr>
          <p:cNvPr id="14" name="Rounded Rectangle 13"/>
          <p:cNvSpPr/>
          <p:nvPr/>
        </p:nvSpPr>
        <p:spPr>
          <a:xfrm>
            <a:off x="73152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4709160" cy="1600200"/>
          </a:xfrm>
          <a:prstGeom prst="rect">
            <a:avLst/>
          </a:prstGeom>
          <a:noFill/>
        </p:spPr>
        <p:txBody>
          <a:bodyPr wrap="square" lIns="0" tIns="0">
            <a:spAutoFit/>
          </a:bodyPr>
          <a:lstStyle/>
          <a:p>
            <a:pPr>
              <a:defRPr sz="1300" b="1">
                <a:solidFill>
                  <a:srgbClr val="FF6B00"/>
                </a:solidFill>
                <a:latin typeface="Arial Black"/>
              </a:defRPr>
            </a:pPr>
            <a:r>
              <a:t>DE OORSPRONG</a:t>
            </a:r>
          </a:p>
          <a:p>
            <a:pPr>
              <a:spcBef>
                <a:spcPts val="800"/>
              </a:spcBef>
              <a:defRPr sz="1100">
                <a:solidFill>
                  <a:srgbClr val="D2D2D7"/>
                </a:solidFill>
                <a:latin typeface="Arial"/>
              </a:defRPr>
            </a:pPr>
            <a:r>
              <a:t>Wat begon als een bescheiden, gezellig tafeltennisclubje op de woensdagmorgen, is uitgegroeid tot een professionele partner voor bedrijfsvitaliteit en teambuilding.</a:t>
            </a:r>
          </a:p>
        </p:txBody>
      </p:sp>
      <p:sp>
        <p:nvSpPr>
          <p:cNvPr id="17" name="Rounded Rectangle 16"/>
          <p:cNvSpPr/>
          <p:nvPr/>
        </p:nvSpPr>
        <p:spPr>
          <a:xfrm>
            <a:off x="617220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160520"/>
            <a:ext cx="4709160" cy="1600200"/>
          </a:xfrm>
          <a:prstGeom prst="rect">
            <a:avLst/>
          </a:prstGeom>
          <a:noFill/>
        </p:spPr>
        <p:txBody>
          <a:bodyPr wrap="square" lIns="0" tIns="0">
            <a:spAutoFit/>
          </a:bodyPr>
          <a:lstStyle/>
          <a:p>
            <a:pPr>
              <a:defRPr sz="1300" b="1">
                <a:solidFill>
                  <a:srgbClr val="FFFFFF"/>
                </a:solidFill>
                <a:latin typeface="Arial Black"/>
              </a:defRPr>
            </a:pPr>
            <a:r>
              <a:t>DE AMBITIE</a:t>
            </a:r>
          </a:p>
          <a:p>
            <a:pPr>
              <a:spcBef>
                <a:spcPts val="800"/>
              </a:spcBef>
              <a:defRPr sz="1100">
                <a:solidFill>
                  <a:srgbClr val="D2D2D7"/>
                </a:solidFill>
                <a:latin typeface="Arial"/>
              </a:defRPr>
            </a:pPr>
            <a:r>
              <a:t>Binnen 3 jaar uitgroeien tot de toonaangevende vitaliteitspartner in Nederland voor actieve bedrijfsevenementen met 100+ clinics per jaar en vaste partnerships.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MARKTANALYSE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Het Probleem in Bedrijfsleven &amp; Onze Marktkans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3</a:t>
            </a:r>
          </a:p>
        </p:txBody>
      </p:sp>
      <p:sp>
        <p:nvSpPr>
          <p:cNvPr id="9" name="Rounded Rectangle 8"/>
          <p:cNvSpPr/>
          <p:nvPr/>
        </p:nvSpPr>
        <p:spPr>
          <a:xfrm>
            <a:off x="731520" y="1645920"/>
            <a:ext cx="5257800" cy="4572000"/>
          </a:xfrm>
          <a:prstGeom prst="roundRect">
            <a:avLst/>
          </a:prstGeom>
          <a:solidFill>
            <a:srgbClr val="1A1616"/>
          </a:solidFill>
          <a:ln w="12700">
            <a:solidFill>
              <a:srgbClr val="50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DC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4709160" cy="4114800"/>
          </a:xfrm>
          <a:prstGeom prst="rect">
            <a:avLst/>
          </a:prstGeom>
          <a:noFill/>
        </p:spPr>
        <p:txBody>
          <a:bodyPr wrap="square" lIns="0" tIns="0">
            <a:spAutoFit/>
          </a:bodyPr>
          <a:lstStyle/>
          <a:p>
            <a:pPr>
              <a:defRPr sz="1400">
                <a:solidFill>
                  <a:srgbClr val="FF5A5A"/>
                </a:solidFill>
                <a:latin typeface="Arial Black"/>
              </a:defRPr>
            </a:pPr>
            <a:r>
              <a:t>HET PROBLEEM OP KANTOOR</a:t>
            </a:r>
          </a:p>
          <a:p>
            <a:pPr>
              <a:spcBef>
                <a:spcPts val="1000"/>
              </a:spcBef>
              <a:defRPr sz="1100">
                <a:solidFill>
                  <a:srgbClr val="FFFFFF"/>
                </a:solidFill>
                <a:latin typeface="Arial Black"/>
              </a:defRPr>
            </a:pPr>
            <a:r>
              <a:t>• Schermmoeheid &amp; Zitgedrag</a:t>
            </a:r>
          </a:p>
          <a:p>
            <a:pPr>
              <a:spcBef>
                <a:spcPts val="200"/>
              </a:spcBef>
              <a:defRPr sz="1000">
                <a:solidFill>
                  <a:srgbClr val="8C8C96"/>
                </a:solidFill>
                <a:latin typeface="Arial"/>
              </a:defRPr>
            </a:pPr>
            <a:r>
              <a:t>Medewerkers zitten gemiddeld 8-10 uur per dag achter een beeldscherm. Energielevels dalen en verzuim stijgt.</a:t>
            </a:r>
          </a:p>
          <a:p>
            <a:pPr>
              <a:spcBef>
                <a:spcPts val="1000"/>
              </a:spcBef>
              <a:defRPr sz="1100">
                <a:solidFill>
                  <a:srgbClr val="FFFFFF"/>
                </a:solidFill>
                <a:latin typeface="Arial Black"/>
              </a:defRPr>
            </a:pPr>
            <a:r>
              <a:t>• Vervreemding door Hybride Werken</a:t>
            </a:r>
          </a:p>
          <a:p>
            <a:pPr>
              <a:spcBef>
                <a:spcPts val="200"/>
              </a:spcBef>
              <a:defRPr sz="1000">
                <a:solidFill>
                  <a:srgbClr val="8C8C96"/>
                </a:solidFill>
                <a:latin typeface="Arial"/>
              </a:defRPr>
            </a:pPr>
            <a:r>
              <a:t>Collega's zien elkaar vaker via Zoom/Teams dan in het echt. Echte spontane verbinding en collegialiteit verdwijnt.</a:t>
            </a:r>
          </a:p>
          <a:p>
            <a:pPr>
              <a:spcBef>
                <a:spcPts val="1000"/>
              </a:spcBef>
              <a:defRPr sz="1100">
                <a:solidFill>
                  <a:srgbClr val="FFFFFF"/>
                </a:solidFill>
                <a:latin typeface="Arial Black"/>
              </a:defRPr>
            </a:pPr>
            <a:r>
              <a:t>• Saaie &amp; Passieve Bedrijfsuitjes</a:t>
            </a:r>
          </a:p>
          <a:p>
            <a:pPr>
              <a:spcBef>
                <a:spcPts val="200"/>
              </a:spcBef>
              <a:defRPr sz="1000">
                <a:solidFill>
                  <a:srgbClr val="8C8C96"/>
                </a:solidFill>
                <a:latin typeface="Arial"/>
              </a:defRPr>
            </a:pPr>
            <a:r>
              <a:t>Standaard borrels of ongemakkelijke workshops zorgen zelden voor blijvende energie of échte interactie.</a:t>
            </a:r>
          </a:p>
          <a:p>
            <a:pPr>
              <a:spcBef>
                <a:spcPts val="1000"/>
              </a:spcBef>
              <a:defRPr sz="1100">
                <a:solidFill>
                  <a:srgbClr val="FFFFFF"/>
                </a:solidFill>
                <a:latin typeface="Arial Black"/>
              </a:defRPr>
            </a:pPr>
            <a:r>
              <a:t>• Hoge Drempels bij Sportuitjes</a:t>
            </a:r>
          </a:p>
          <a:p>
            <a:pPr>
              <a:spcBef>
                <a:spcPts val="200"/>
              </a:spcBef>
              <a:defRPr sz="1000">
                <a:solidFill>
                  <a:srgbClr val="8C8C96"/>
                </a:solidFill>
                <a:latin typeface="Arial"/>
              </a:defRPr>
            </a:pPr>
            <a:r>
              <a:t>Karten, padel of zeskamp sluit vaak collega's uit door conditieniveau, leeftijd of blessuregevoeligheid.</a:t>
            </a:r>
          </a:p>
        </p:txBody>
      </p:sp>
      <p:sp>
        <p:nvSpPr>
          <p:cNvPr id="12" name="Rounded Rectangle 11"/>
          <p:cNvSpPr/>
          <p:nvPr/>
        </p:nvSpPr>
        <p:spPr>
          <a:xfrm>
            <a:off x="6199632" y="1645920"/>
            <a:ext cx="5257800" cy="4572000"/>
          </a:xfrm>
          <a:prstGeom prst="roundRect">
            <a:avLst/>
          </a:prstGeom>
          <a:solidFill>
            <a:srgbClr val="161C18"/>
          </a:solidFill>
          <a:ln w="12700">
            <a:solidFill>
              <a:srgbClr val="2850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74519"/>
            <a:ext cx="4709160" cy="4114800"/>
          </a:xfrm>
          <a:prstGeom prst="rect">
            <a:avLst/>
          </a:prstGeom>
          <a:noFill/>
        </p:spPr>
        <p:txBody>
          <a:bodyPr wrap="square" lIns="0" tIns="0">
            <a:spAutoFit/>
          </a:bodyPr>
          <a:lstStyle/>
          <a:p>
            <a:pPr>
              <a:defRPr sz="1400">
                <a:solidFill>
                  <a:srgbClr val="FF9A4D"/>
                </a:solidFill>
                <a:latin typeface="Arial Black"/>
              </a:defRPr>
            </a:pPr>
            <a:r>
              <a:t>DE KANS VOOR TT CLINICS</a:t>
            </a:r>
          </a:p>
          <a:p>
            <a:pPr>
              <a:spcBef>
                <a:spcPts val="1000"/>
              </a:spcBef>
              <a:defRPr sz="1100">
                <a:solidFill>
                  <a:srgbClr val="FFFFFF"/>
                </a:solidFill>
                <a:latin typeface="Arial Black"/>
              </a:defRPr>
            </a:pPr>
            <a:r>
              <a:t>✓ Groeiend Vitaliteitsbudget (WKR)</a:t>
            </a:r>
          </a:p>
          <a:p>
            <a:pPr>
              <a:spcBef>
                <a:spcPts val="200"/>
              </a:spcBef>
              <a:defRPr sz="1000">
                <a:solidFill>
                  <a:srgbClr val="8C8C96"/>
                </a:solidFill>
                <a:latin typeface="Arial"/>
              </a:defRPr>
            </a:pPr>
            <a:r>
              <a:t>Werkgevers investeren fors in preventieve vitaliteit, mentale fitheid en teambuilding met belastingvoordelen.</a:t>
            </a:r>
          </a:p>
          <a:p>
            <a:pPr>
              <a:spcBef>
                <a:spcPts val="1000"/>
              </a:spcBef>
              <a:defRPr sz="1100">
                <a:solidFill>
                  <a:srgbClr val="FFFFFF"/>
                </a:solidFill>
                <a:latin typeface="Arial Black"/>
              </a:defRPr>
            </a:pPr>
            <a:r>
              <a:t>✓ De Tafeltennis Herwaardering</a:t>
            </a:r>
          </a:p>
          <a:p>
            <a:pPr>
              <a:spcBef>
                <a:spcPts val="200"/>
              </a:spcBef>
              <a:defRPr sz="1000">
                <a:solidFill>
                  <a:srgbClr val="8C8C96"/>
                </a:solidFill>
                <a:latin typeface="Arial"/>
              </a:defRPr>
            </a:pPr>
            <a:r>
              <a:t>Elk modern kantoor heeft of wil een tafeltennistafel, maar benut deze zelden optimaal voor gestructureerde team clinics.</a:t>
            </a:r>
          </a:p>
          <a:p>
            <a:pPr>
              <a:spcBef>
                <a:spcPts val="1000"/>
              </a:spcBef>
              <a:defRPr sz="1100">
                <a:solidFill>
                  <a:srgbClr val="FFFFFF"/>
                </a:solidFill>
                <a:latin typeface="Arial Black"/>
              </a:defRPr>
            </a:pPr>
            <a:r>
              <a:t>✓ Schaken op Topsnelheid</a:t>
            </a:r>
          </a:p>
          <a:p>
            <a:pPr>
              <a:spcBef>
                <a:spcPts val="200"/>
              </a:spcBef>
              <a:defRPr sz="1000">
                <a:solidFill>
                  <a:srgbClr val="8C8C96"/>
                </a:solidFill>
                <a:latin typeface="Arial"/>
              </a:defRPr>
            </a:pPr>
            <a:r>
              <a:t>Tafeltennis triggert bewezen neuroplasticiteit: snelle reflexen, focus en mentale ontlading binnen 5 minuten.</a:t>
            </a:r>
          </a:p>
          <a:p>
            <a:pPr>
              <a:spcBef>
                <a:spcPts val="1000"/>
              </a:spcBef>
              <a:defRPr sz="1100">
                <a:solidFill>
                  <a:srgbClr val="FFFFFF"/>
                </a:solidFill>
                <a:latin typeface="Arial Black"/>
              </a:defRPr>
            </a:pPr>
            <a:r>
              <a:t>✓ Flexibel &amp; Schaalbaar Model</a:t>
            </a:r>
          </a:p>
          <a:p>
            <a:pPr>
              <a:spcBef>
                <a:spcPts val="200"/>
              </a:spcBef>
              <a:defRPr sz="1000">
                <a:solidFill>
                  <a:srgbClr val="8C8C96"/>
                </a:solidFill>
                <a:latin typeface="Arial"/>
              </a:defRPr>
            </a:pPr>
            <a:r>
              <a:t>Wij komen met mobiele wedstrijduitrusting naar de bedrijfskantine óf organiseren het in een sfeervolle zaal incl. borrel.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PRODUCT &amp; PROPOSITIE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Het Dienstenaanbod: Drie Krachtige Formules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4</a:t>
            </a:r>
          </a:p>
        </p:txBody>
      </p:sp>
      <p:sp>
        <p:nvSpPr>
          <p:cNvPr id="9" name="Rounded Rectangle 8"/>
          <p:cNvSpPr/>
          <p:nvPr/>
        </p:nvSpPr>
        <p:spPr>
          <a:xfrm>
            <a:off x="731520"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74520"/>
            <a:ext cx="2999232" cy="4114800"/>
          </a:xfrm>
          <a:prstGeom prst="rect">
            <a:avLst/>
          </a:prstGeom>
          <a:noFill/>
        </p:spPr>
        <p:txBody>
          <a:bodyPr wrap="square" lIns="0" tIns="0">
            <a:spAutoFit/>
          </a:bodyPr>
          <a:lstStyle/>
          <a:p>
            <a:pPr>
              <a:defRPr sz="1300" b="1">
                <a:solidFill>
                  <a:srgbClr val="FFFFFF"/>
                </a:solidFill>
                <a:latin typeface="Arial Black"/>
              </a:defRPr>
            </a:pPr>
            <a:r>
              <a:t>TEAM KICK-OFF</a:t>
            </a:r>
          </a:p>
          <a:p>
            <a:pPr>
              <a:spcBef>
                <a:spcPts val="400"/>
              </a:spcBef>
              <a:defRPr sz="2600" b="1">
                <a:solidFill>
                  <a:srgbClr val="FFFFFF"/>
                </a:solidFill>
                <a:latin typeface="Arial Black"/>
              </a:defRPr>
            </a:pPr>
            <a:r>
              <a:t>€395</a:t>
            </a:r>
          </a:p>
          <a:p>
            <a:pPr>
              <a:spcBef>
                <a:spcPts val="200"/>
              </a:spcBef>
              <a:defRPr sz="950">
                <a:solidFill>
                  <a:srgbClr val="8C8C96"/>
                </a:solidFill>
                <a:latin typeface="Arial"/>
              </a:defRPr>
            </a:pPr>
            <a:r>
              <a:t>1,5 uur · Tot 12 personen</a:t>
            </a:r>
          </a:p>
          <a:p>
            <a:pPr>
              <a:spcBef>
                <a:spcPts val="600"/>
              </a:spcBef>
              <a:defRPr sz="800">
                <a:solidFill>
                  <a:srgbClr val="32323C"/>
                </a:solidFill>
              </a:defRPr>
            </a:pPr>
            <a:r>
              <a:t>——————————————————</a:t>
            </a:r>
          </a:p>
          <a:p>
            <a:pPr>
              <a:spcBef>
                <a:spcPts val="600"/>
              </a:spcBef>
              <a:defRPr sz="950">
                <a:solidFill>
                  <a:srgbClr val="D2D2D7"/>
                </a:solidFill>
                <a:latin typeface="Arial"/>
              </a:defRPr>
            </a:pPr>
            <a:r>
              <a:t>• Masterclass basistechniek &amp; effectspin</a:t>
            </a:r>
          </a:p>
          <a:p>
            <a:pPr>
              <a:spcBef>
                <a:spcPts val="600"/>
              </a:spcBef>
              <a:defRPr sz="950">
                <a:solidFill>
                  <a:srgbClr val="D2D2D7"/>
                </a:solidFill>
                <a:latin typeface="Arial"/>
              </a:defRPr>
            </a:pPr>
            <a:r>
              <a:t>• King of the Court toernooitje</a:t>
            </a:r>
          </a:p>
          <a:p>
            <a:pPr>
              <a:spcBef>
                <a:spcPts val="600"/>
              </a:spcBef>
              <a:defRPr sz="950">
                <a:solidFill>
                  <a:srgbClr val="D2D2D7"/>
                </a:solidFill>
                <a:latin typeface="Arial"/>
              </a:defRPr>
            </a:pPr>
            <a:r>
              <a:t>• Professionele batjes &amp; ballen inbegrepen</a:t>
            </a:r>
          </a:p>
          <a:p>
            <a:pPr>
              <a:spcBef>
                <a:spcPts val="600"/>
              </a:spcBef>
              <a:defRPr sz="950">
                <a:solidFill>
                  <a:srgbClr val="D2D2D7"/>
                </a:solidFill>
                <a:latin typeface="Arial"/>
              </a:defRPr>
            </a:pPr>
            <a:r>
              <a:t>• Op eigen kantoor of sportlocatie</a:t>
            </a:r>
          </a:p>
          <a:p>
            <a:pPr>
              <a:spcBef>
                <a:spcPts val="600"/>
              </a:spcBef>
              <a:defRPr sz="950">
                <a:solidFill>
                  <a:srgbClr val="D2D2D7"/>
                </a:solidFill>
                <a:latin typeface="Arial"/>
              </a:defRPr>
            </a:pPr>
            <a:r>
              <a:t>• Ideaal voor afdelingen &amp; kleine teams</a:t>
            </a:r>
          </a:p>
        </p:txBody>
      </p:sp>
      <p:sp>
        <p:nvSpPr>
          <p:cNvPr id="11" name="Rounded Rectangle 10"/>
          <p:cNvSpPr/>
          <p:nvPr/>
        </p:nvSpPr>
        <p:spPr>
          <a:xfrm>
            <a:off x="4370832" y="1645920"/>
            <a:ext cx="3456432" cy="4572000"/>
          </a:xfrm>
          <a:prstGeom prst="roundRect">
            <a:avLst/>
          </a:prstGeom>
          <a:solidFill>
            <a:srgbClr val="261E18"/>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2" y="1874520"/>
            <a:ext cx="2999232" cy="4114800"/>
          </a:xfrm>
          <a:prstGeom prst="rect">
            <a:avLst/>
          </a:prstGeom>
          <a:noFill/>
        </p:spPr>
        <p:txBody>
          <a:bodyPr wrap="square" lIns="0" tIns="0">
            <a:spAutoFit/>
          </a:bodyPr>
          <a:lstStyle/>
          <a:p>
            <a:pPr>
              <a:defRPr sz="1300" b="1">
                <a:solidFill>
                  <a:srgbClr val="FF6B00"/>
                </a:solidFill>
                <a:latin typeface="Arial Black"/>
              </a:defRPr>
            </a:pPr>
            <a:r>
              <a:t>COMPANY BATTLE (FLAGSHIP)</a:t>
            </a:r>
          </a:p>
          <a:p>
            <a:pPr>
              <a:spcBef>
                <a:spcPts val="400"/>
              </a:spcBef>
              <a:defRPr sz="2600" b="1">
                <a:solidFill>
                  <a:srgbClr val="FFFFFF"/>
                </a:solidFill>
                <a:latin typeface="Arial Black"/>
              </a:defRPr>
            </a:pPr>
            <a:r>
              <a:t>€745</a:t>
            </a:r>
          </a:p>
          <a:p>
            <a:pPr>
              <a:spcBef>
                <a:spcPts val="200"/>
              </a:spcBef>
              <a:defRPr sz="950">
                <a:solidFill>
                  <a:srgbClr val="8C8C96"/>
                </a:solidFill>
                <a:latin typeface="Arial"/>
              </a:defRPr>
            </a:pPr>
            <a:r>
              <a:t>2,5 uur · Tot 12 personen</a:t>
            </a:r>
          </a:p>
          <a:p>
            <a:pPr>
              <a:spcBef>
                <a:spcPts val="600"/>
              </a:spcBef>
              <a:defRPr sz="800">
                <a:solidFill>
                  <a:srgbClr val="32323C"/>
                </a:solidFill>
              </a:defRPr>
            </a:pPr>
            <a:r>
              <a:t>——————————————————</a:t>
            </a:r>
          </a:p>
          <a:p>
            <a:pPr>
              <a:spcBef>
                <a:spcPts val="600"/>
              </a:spcBef>
              <a:defRPr sz="950">
                <a:solidFill>
                  <a:srgbClr val="D2D2D7"/>
                </a:solidFill>
                <a:latin typeface="Arial"/>
              </a:defRPr>
            </a:pPr>
            <a:r>
              <a:t>• Complete clinic + trickshots van Edward</a:t>
            </a:r>
          </a:p>
          <a:p>
            <a:pPr>
              <a:spcBef>
                <a:spcPts val="600"/>
              </a:spcBef>
              <a:defRPr sz="950">
                <a:solidFill>
                  <a:srgbClr val="D2D2D7"/>
                </a:solidFill>
                <a:latin typeface="Arial"/>
              </a:defRPr>
            </a:pPr>
            <a:r>
              <a:t>• Volledig verzorgd bedrijfscompetitie toernooi</a:t>
            </a:r>
          </a:p>
          <a:p>
            <a:pPr>
              <a:spcBef>
                <a:spcPts val="600"/>
              </a:spcBef>
              <a:defRPr sz="950">
                <a:solidFill>
                  <a:srgbClr val="D2D2D7"/>
                </a:solidFill>
                <a:latin typeface="Arial"/>
              </a:defRPr>
            </a:pPr>
            <a:r>
              <a:t>• Officiële TT Clinics wisseltrofee &amp; medailles</a:t>
            </a:r>
          </a:p>
          <a:p>
            <a:pPr>
              <a:spcBef>
                <a:spcPts val="600"/>
              </a:spcBef>
              <a:defRPr sz="950">
                <a:solidFill>
                  <a:srgbClr val="D2D2D7"/>
                </a:solidFill>
                <a:latin typeface="Arial"/>
              </a:defRPr>
            </a:pPr>
            <a:r>
              <a:t>• Meest gekozen bedrijfsuitje &amp; kick-off</a:t>
            </a:r>
          </a:p>
          <a:p>
            <a:pPr>
              <a:spcBef>
                <a:spcPts val="600"/>
              </a:spcBef>
              <a:defRPr sz="950">
                <a:solidFill>
                  <a:srgbClr val="D2D2D7"/>
                </a:solidFill>
                <a:latin typeface="Arial"/>
              </a:defRPr>
            </a:pPr>
            <a:r>
              <a:t>• Optioneel: borrel &amp; bittergarnituur arrangement</a:t>
            </a:r>
          </a:p>
        </p:txBody>
      </p:sp>
      <p:sp>
        <p:nvSpPr>
          <p:cNvPr id="14" name="Rounded Rectangle 13"/>
          <p:cNvSpPr/>
          <p:nvPr/>
        </p:nvSpPr>
        <p:spPr>
          <a:xfrm>
            <a:off x="8010144"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8744" y="1874520"/>
            <a:ext cx="2999232" cy="4114800"/>
          </a:xfrm>
          <a:prstGeom prst="rect">
            <a:avLst/>
          </a:prstGeom>
          <a:noFill/>
        </p:spPr>
        <p:txBody>
          <a:bodyPr wrap="square" lIns="0" tIns="0">
            <a:spAutoFit/>
          </a:bodyPr>
          <a:lstStyle/>
          <a:p>
            <a:pPr>
              <a:defRPr sz="1300" b="1">
                <a:solidFill>
                  <a:srgbClr val="FFFFFF"/>
                </a:solidFill>
                <a:latin typeface="Arial Black"/>
              </a:defRPr>
            </a:pPr>
            <a:r>
              <a:t>VITALITEIT &amp; MAATWERK</a:t>
            </a:r>
          </a:p>
          <a:p>
            <a:pPr>
              <a:spcBef>
                <a:spcPts val="400"/>
              </a:spcBef>
              <a:defRPr sz="2600" b="1">
                <a:solidFill>
                  <a:srgbClr val="FFFFFF"/>
                </a:solidFill>
                <a:latin typeface="Arial Black"/>
              </a:defRPr>
            </a:pPr>
            <a:r>
              <a:t>Op Maat</a:t>
            </a:r>
          </a:p>
          <a:p>
            <a:pPr>
              <a:spcBef>
                <a:spcPts val="200"/>
              </a:spcBef>
              <a:defRPr sz="950">
                <a:solidFill>
                  <a:srgbClr val="8C8C96"/>
                </a:solidFill>
                <a:latin typeface="Arial"/>
              </a:defRPr>
            </a:pPr>
            <a:r>
              <a:t>Vanaf 12+ pers. / Meerdaags</a:t>
            </a:r>
          </a:p>
          <a:p>
            <a:pPr>
              <a:spcBef>
                <a:spcPts val="600"/>
              </a:spcBef>
              <a:defRPr sz="800">
                <a:solidFill>
                  <a:srgbClr val="32323C"/>
                </a:solidFill>
              </a:defRPr>
            </a:pPr>
            <a:r>
              <a:t>——————————————————</a:t>
            </a:r>
          </a:p>
          <a:p>
            <a:pPr>
              <a:spcBef>
                <a:spcPts val="600"/>
              </a:spcBef>
              <a:defRPr sz="950">
                <a:solidFill>
                  <a:srgbClr val="D2D2D7"/>
                </a:solidFill>
                <a:latin typeface="Arial"/>
              </a:defRPr>
            </a:pPr>
            <a:r>
              <a:t>• Gezondheids- en vitaliteitsweken op kantoor</a:t>
            </a:r>
          </a:p>
          <a:p>
            <a:pPr>
              <a:spcBef>
                <a:spcPts val="600"/>
              </a:spcBef>
              <a:defRPr sz="950">
                <a:solidFill>
                  <a:srgbClr val="D2D2D7"/>
                </a:solidFill>
                <a:latin typeface="Arial"/>
              </a:defRPr>
            </a:pPr>
            <a:r>
              <a:t>• Meerdere trainers &amp; mobiele wedstrijdtafels</a:t>
            </a:r>
          </a:p>
          <a:p>
            <a:pPr>
              <a:spcBef>
                <a:spcPts val="600"/>
              </a:spcBef>
              <a:defRPr sz="950">
                <a:solidFill>
                  <a:srgbClr val="D2D2D7"/>
                </a:solidFill>
                <a:latin typeface="Arial"/>
              </a:defRPr>
            </a:pPr>
            <a:r>
              <a:t>• Bedrijfscompetitie opzet voor het hele jaar</a:t>
            </a:r>
          </a:p>
          <a:p>
            <a:pPr>
              <a:spcBef>
                <a:spcPts val="600"/>
              </a:spcBef>
              <a:defRPr sz="950">
                <a:solidFill>
                  <a:srgbClr val="D2D2D7"/>
                </a:solidFill>
                <a:latin typeface="Arial"/>
              </a:defRPr>
            </a:pPr>
            <a:r>
              <a:t>• Volledig afgestemd op corporate programma</a:t>
            </a:r>
          </a:p>
          <a:p>
            <a:pPr>
              <a:spcBef>
                <a:spcPts val="600"/>
              </a:spcBef>
              <a:defRPr sz="950">
                <a:solidFill>
                  <a:srgbClr val="D2D2D7"/>
                </a:solidFill>
                <a:latin typeface="Arial"/>
              </a:defRPr>
            </a:pPr>
            <a:r>
              <a:t>• Grote organisaties &amp; evenementen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DE PSYCHOLOGIE &amp; SPORT</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Waarom Tafeltennis? De Ultieme Teamformule</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5</a:t>
            </a:r>
          </a:p>
        </p:txBody>
      </p:sp>
      <p:sp>
        <p:nvSpPr>
          <p:cNvPr id="9" name="Rounded Rectangle 8"/>
          <p:cNvSpPr/>
          <p:nvPr/>
        </p:nvSpPr>
        <p:spPr>
          <a:xfrm>
            <a:off x="73152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20"/>
            <a:ext cx="4709160" cy="1600200"/>
          </a:xfrm>
          <a:prstGeom prst="rect">
            <a:avLst/>
          </a:prstGeom>
          <a:noFill/>
        </p:spPr>
        <p:txBody>
          <a:bodyPr wrap="square" lIns="0" tIns="0">
            <a:spAutoFit/>
          </a:bodyPr>
          <a:lstStyle/>
          <a:p>
            <a:pPr>
              <a:defRPr sz="1300" b="1">
                <a:solidFill>
                  <a:srgbClr val="FFFFFF"/>
                </a:solidFill>
                <a:latin typeface="Arial Black"/>
              </a:defRPr>
            </a:pPr>
            <a:r>
              <a:t>🏓  100% INCLUSIEF &amp; GELIJKWAARDIG</a:t>
            </a:r>
          </a:p>
          <a:p>
            <a:pPr>
              <a:spcBef>
                <a:spcPts val="800"/>
              </a:spcBef>
              <a:defRPr sz="1100">
                <a:solidFill>
                  <a:srgbClr val="D2D2D7"/>
                </a:solidFill>
                <a:latin typeface="Arial"/>
              </a:defRPr>
            </a:pPr>
            <a:r>
              <a:t>Geen fysiek overwicht of conditievereiste: stagiair en CEO staan direct op gelijk niveau tegenover elkaar aan tafel.</a:t>
            </a:r>
          </a:p>
        </p:txBody>
      </p:sp>
      <p:sp>
        <p:nvSpPr>
          <p:cNvPr id="12" name="Rounded Rectangle 11"/>
          <p:cNvSpPr/>
          <p:nvPr/>
        </p:nvSpPr>
        <p:spPr>
          <a:xfrm>
            <a:off x="617220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20"/>
            <a:ext cx="4709160" cy="1600200"/>
          </a:xfrm>
          <a:prstGeom prst="rect">
            <a:avLst/>
          </a:prstGeom>
          <a:noFill/>
        </p:spPr>
        <p:txBody>
          <a:bodyPr wrap="square" lIns="0" tIns="0">
            <a:spAutoFit/>
          </a:bodyPr>
          <a:lstStyle/>
          <a:p>
            <a:pPr>
              <a:defRPr sz="1300" b="1">
                <a:solidFill>
                  <a:srgbClr val="FFFFFF"/>
                </a:solidFill>
                <a:latin typeface="Arial Black"/>
              </a:defRPr>
            </a:pPr>
            <a:r>
              <a:t>⚡  SCHAKEN OP TOPSNELHEID</a:t>
            </a:r>
          </a:p>
          <a:p>
            <a:pPr>
              <a:spcBef>
                <a:spcPts val="800"/>
              </a:spcBef>
              <a:defRPr sz="1100">
                <a:solidFill>
                  <a:srgbClr val="D2D2D7"/>
                </a:solidFill>
                <a:latin typeface="Arial"/>
              </a:defRPr>
            </a:pPr>
            <a:r>
              <a:t>Activeert reflexen, hand-oogcoördinatie en breinplasticiteit. De ideale doorbreking van langdurige kantoor- en schermfocus.</a:t>
            </a:r>
          </a:p>
        </p:txBody>
      </p:sp>
      <p:sp>
        <p:nvSpPr>
          <p:cNvPr id="15" name="Rounded Rectangle 14"/>
          <p:cNvSpPr/>
          <p:nvPr/>
        </p:nvSpPr>
        <p:spPr>
          <a:xfrm>
            <a:off x="73152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160520"/>
            <a:ext cx="4709160" cy="1600200"/>
          </a:xfrm>
          <a:prstGeom prst="rect">
            <a:avLst/>
          </a:prstGeom>
          <a:noFill/>
        </p:spPr>
        <p:txBody>
          <a:bodyPr wrap="square" lIns="0" tIns="0">
            <a:spAutoFit/>
          </a:bodyPr>
          <a:lstStyle/>
          <a:p>
            <a:pPr>
              <a:defRPr sz="1300" b="1">
                <a:solidFill>
                  <a:srgbClr val="FFFFFF"/>
                </a:solidFill>
                <a:latin typeface="Arial Black"/>
              </a:defRPr>
            </a:pPr>
            <a:r>
              <a:t>🏆  DIRECT LACHEN &amp; RIVALITEIT</a:t>
            </a:r>
          </a:p>
          <a:p>
            <a:pPr>
              <a:spcBef>
                <a:spcPts val="800"/>
              </a:spcBef>
              <a:defRPr sz="1100">
                <a:solidFill>
                  <a:srgbClr val="D2D2D7"/>
                </a:solidFill>
                <a:latin typeface="Arial"/>
              </a:defRPr>
            </a:pPr>
            <a:r>
              <a:t>Binnen 2 minuten ontstaan er rally's, spectaculaire punten en hilarische missers. Gegarandeerd positieve teamenergie.</a:t>
            </a:r>
          </a:p>
        </p:txBody>
      </p:sp>
      <p:sp>
        <p:nvSpPr>
          <p:cNvPr id="18" name="Rounded Rectangle 17"/>
          <p:cNvSpPr/>
          <p:nvPr/>
        </p:nvSpPr>
        <p:spPr>
          <a:xfrm>
            <a:off x="617220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160520"/>
            <a:ext cx="4709160" cy="1600200"/>
          </a:xfrm>
          <a:prstGeom prst="rect">
            <a:avLst/>
          </a:prstGeom>
          <a:noFill/>
        </p:spPr>
        <p:txBody>
          <a:bodyPr wrap="square" lIns="0" tIns="0">
            <a:spAutoFit/>
          </a:bodyPr>
          <a:lstStyle/>
          <a:p>
            <a:pPr>
              <a:defRPr sz="1300" b="1">
                <a:solidFill>
                  <a:srgbClr val="FFFFFF"/>
                </a:solidFill>
                <a:latin typeface="Arial Black"/>
              </a:defRPr>
            </a:pPr>
            <a:r>
              <a:t>🛡️  VOLLEDIG ZONDER BLESSURES</a:t>
            </a:r>
          </a:p>
          <a:p>
            <a:pPr>
              <a:spcBef>
                <a:spcPts val="800"/>
              </a:spcBef>
              <a:defRPr sz="1100">
                <a:solidFill>
                  <a:srgbClr val="D2D2D7"/>
                </a:solidFill>
                <a:latin typeface="Arial"/>
              </a:defRPr>
            </a:pPr>
            <a:r>
              <a:t>Veilige binnensport zonder fysiek contact. Iedereen kan zorgeloos meedoen in normale vrijetijdskleding of sportoutfit.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DOELGROEPSEGMENTATIE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Voor Wie? Vier Primaire Klantsegmenten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6</a:t>
            </a:r>
          </a:p>
        </p:txBody>
      </p:sp>
      <p:sp>
        <p:nvSpPr>
          <p:cNvPr id="9" name="Rounded Rectangle 8"/>
          <p:cNvSpPr/>
          <p:nvPr/>
        </p:nvSpPr>
        <p:spPr>
          <a:xfrm>
            <a:off x="73152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FF6B00"/>
                </a:solidFill>
                <a:latin typeface="Arial Black"/>
              </a:defRPr>
            </a:pPr>
            <a:r>
              <a:t>MKB &amp; IT/TECH BEDRIJVEN</a:t>
            </a:r>
          </a:p>
          <a:p>
            <a:pPr>
              <a:spcBef>
                <a:spcPts val="100"/>
              </a:spcBef>
              <a:defRPr sz="950">
                <a:solidFill>
                  <a:srgbClr val="8C8C96"/>
                </a:solidFill>
                <a:latin typeface="Arial"/>
              </a:defRPr>
            </a:pPr>
            <a:r>
              <a:t>10 - 75 medewerkers</a:t>
            </a:r>
          </a:p>
          <a:p>
            <a:pPr>
              <a:spcBef>
                <a:spcPts val="300"/>
              </a:spcBef>
              <a:defRPr sz="900">
                <a:solidFill>
                  <a:srgbClr val="D2D2D7"/>
                </a:solidFill>
                <a:latin typeface="Arial"/>
              </a:defRPr>
            </a:pPr>
            <a:r>
              <a:t>• Hoge schermtijd, zittend werk</a:t>
            </a:r>
          </a:p>
          <a:p>
            <a:pPr>
              <a:spcBef>
                <a:spcPts val="300"/>
              </a:spcBef>
              <a:defRPr sz="900">
                <a:solidFill>
                  <a:srgbClr val="D2D2D7"/>
                </a:solidFill>
                <a:latin typeface="Arial"/>
              </a:defRPr>
            </a:pPr>
            <a:r>
              <a:t>• Jong &amp; dynamisch team</a:t>
            </a:r>
          </a:p>
          <a:p>
            <a:pPr>
              <a:spcBef>
                <a:spcPts val="300"/>
              </a:spcBef>
              <a:defRPr sz="900">
                <a:solidFill>
                  <a:srgbClr val="D2D2D7"/>
                </a:solidFill>
                <a:latin typeface="Arial"/>
              </a:defRPr>
            </a:pPr>
            <a:r>
              <a:t>• Zoeken informele, actieve vrijdagmiddag of kwartaalafsluiting</a:t>
            </a:r>
          </a:p>
          <a:p>
            <a:pPr>
              <a:spcBef>
                <a:spcPts val="300"/>
              </a:spcBef>
              <a:defRPr sz="900">
                <a:solidFill>
                  <a:srgbClr val="D2D2D7"/>
                </a:solidFill>
                <a:latin typeface="Arial"/>
              </a:defRPr>
            </a:pPr>
            <a:r>
              <a:t>• Vaak al een tafeltennistafel aanwezig op kantoor</a:t>
            </a:r>
          </a:p>
        </p:txBody>
      </p:sp>
      <p:sp>
        <p:nvSpPr>
          <p:cNvPr id="11" name="Rounded Rectangle 10"/>
          <p:cNvSpPr/>
          <p:nvPr/>
        </p:nvSpPr>
        <p:spPr>
          <a:xfrm>
            <a:off x="617220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FF6B00"/>
                </a:solidFill>
                <a:latin typeface="Arial Black"/>
              </a:defRPr>
            </a:pPr>
            <a:r>
              <a:t>CORPORATES &amp; ZORG/FINANCIEEL</a:t>
            </a:r>
          </a:p>
          <a:p>
            <a:pPr>
              <a:spcBef>
                <a:spcPts val="100"/>
              </a:spcBef>
              <a:defRPr sz="950">
                <a:solidFill>
                  <a:srgbClr val="8C8C96"/>
                </a:solidFill>
                <a:latin typeface="Arial"/>
              </a:defRPr>
            </a:pPr>
            <a:r>
              <a:t>Afdelingen van 12 - 50 pers.</a:t>
            </a:r>
          </a:p>
          <a:p>
            <a:pPr>
              <a:spcBef>
                <a:spcPts val="300"/>
              </a:spcBef>
              <a:defRPr sz="900">
                <a:solidFill>
                  <a:srgbClr val="D2D2D7"/>
                </a:solidFill>
                <a:latin typeface="Arial"/>
              </a:defRPr>
            </a:pPr>
            <a:r>
              <a:t>• Focus op vitaliteitsweken en duurzame inzetbaarheid</a:t>
            </a:r>
          </a:p>
          <a:p>
            <a:pPr>
              <a:spcBef>
                <a:spcPts val="300"/>
              </a:spcBef>
              <a:defRPr sz="900">
                <a:solidFill>
                  <a:srgbClr val="D2D2D7"/>
                </a:solidFill>
                <a:latin typeface="Arial"/>
              </a:defRPr>
            </a:pPr>
            <a:r>
              <a:t>• Teambuilding na reorganisaties of fusies</a:t>
            </a:r>
          </a:p>
          <a:p>
            <a:pPr>
              <a:spcBef>
                <a:spcPts val="300"/>
              </a:spcBef>
              <a:defRPr sz="900">
                <a:solidFill>
                  <a:srgbClr val="D2D2D7"/>
                </a:solidFill>
                <a:latin typeface="Arial"/>
              </a:defRPr>
            </a:pPr>
            <a:r>
              <a:t>• WKR-budget beschikbaar voor teamontwikkeling</a:t>
            </a:r>
          </a:p>
          <a:p>
            <a:pPr>
              <a:spcBef>
                <a:spcPts val="300"/>
              </a:spcBef>
              <a:defRPr sz="900">
                <a:solidFill>
                  <a:srgbClr val="D2D2D7"/>
                </a:solidFill>
                <a:latin typeface="Arial"/>
              </a:defRPr>
            </a:pPr>
            <a:r>
              <a:t>• Boeken vaak 'Company Battle' of maatwerk</a:t>
            </a:r>
          </a:p>
        </p:txBody>
      </p:sp>
      <p:sp>
        <p:nvSpPr>
          <p:cNvPr id="13" name="Rounded Rectangle 12"/>
          <p:cNvSpPr/>
          <p:nvPr/>
        </p:nvSpPr>
        <p:spPr>
          <a:xfrm>
            <a:off x="73152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FF6B00"/>
                </a:solidFill>
                <a:latin typeface="Arial Black"/>
              </a:defRPr>
            </a:pPr>
            <a:r>
              <a:t>EVENEMENTENBUREAUS &amp; LOCATIES</a:t>
            </a:r>
          </a:p>
          <a:p>
            <a:pPr>
              <a:spcBef>
                <a:spcPts val="100"/>
              </a:spcBef>
              <a:defRPr sz="950">
                <a:solidFill>
                  <a:srgbClr val="8C8C96"/>
                </a:solidFill>
                <a:latin typeface="Arial"/>
              </a:defRPr>
            </a:pPr>
            <a:r>
              <a:t>B2B Partners</a:t>
            </a:r>
          </a:p>
          <a:p>
            <a:pPr>
              <a:spcBef>
                <a:spcPts val="300"/>
              </a:spcBef>
              <a:defRPr sz="900">
                <a:solidFill>
                  <a:srgbClr val="D2D2D7"/>
                </a:solidFill>
                <a:latin typeface="Arial"/>
              </a:defRPr>
            </a:pPr>
            <a:r>
              <a:t>• Zoeken een originele, interactieve break voor heidagen</a:t>
            </a:r>
          </a:p>
          <a:p>
            <a:pPr>
              <a:spcBef>
                <a:spcPts val="300"/>
              </a:spcBef>
              <a:defRPr sz="900">
                <a:solidFill>
                  <a:srgbClr val="D2D2D7"/>
                </a:solidFill>
                <a:latin typeface="Arial"/>
              </a:defRPr>
            </a:pPr>
            <a:r>
              <a:t>• TT Clinics als vaste sportieve partner/module</a:t>
            </a:r>
          </a:p>
          <a:p>
            <a:pPr>
              <a:spcBef>
                <a:spcPts val="300"/>
              </a:spcBef>
              <a:defRPr sz="900">
                <a:solidFill>
                  <a:srgbClr val="D2D2D7"/>
                </a:solidFill>
                <a:latin typeface="Arial"/>
              </a:defRPr>
            </a:pPr>
            <a:r>
              <a:t>• White-label of co-branded evenementen</a:t>
            </a:r>
          </a:p>
          <a:p>
            <a:pPr>
              <a:spcBef>
                <a:spcPts val="300"/>
              </a:spcBef>
              <a:defRPr sz="900">
                <a:solidFill>
                  <a:srgbClr val="D2D2D7"/>
                </a:solidFill>
                <a:latin typeface="Arial"/>
              </a:defRPr>
            </a:pPr>
            <a:r>
              <a:t>• Terugkerende boekingen via intermediairs</a:t>
            </a:r>
          </a:p>
        </p:txBody>
      </p:sp>
      <p:sp>
        <p:nvSpPr>
          <p:cNvPr id="15" name="Rounded Rectangle 14"/>
          <p:cNvSpPr/>
          <p:nvPr/>
        </p:nvSpPr>
        <p:spPr>
          <a:xfrm>
            <a:off x="617220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FF6B00"/>
                </a:solidFill>
                <a:latin typeface="Arial Black"/>
              </a:defRPr>
            </a:pPr>
            <a:r>
              <a:t>ONDERNEMERSCLUBS &amp; NETWERKEN</a:t>
            </a:r>
          </a:p>
          <a:p>
            <a:pPr>
              <a:spcBef>
                <a:spcPts val="100"/>
              </a:spcBef>
              <a:defRPr sz="950">
                <a:solidFill>
                  <a:srgbClr val="8C8C96"/>
                </a:solidFill>
                <a:latin typeface="Arial"/>
              </a:defRPr>
            </a:pPr>
            <a:r>
              <a:t>20 - 60 ondernemers</a:t>
            </a:r>
          </a:p>
          <a:p>
            <a:pPr>
              <a:spcBef>
                <a:spcPts val="300"/>
              </a:spcBef>
              <a:defRPr sz="900">
                <a:solidFill>
                  <a:srgbClr val="D2D2D7"/>
                </a:solidFill>
                <a:latin typeface="Arial"/>
              </a:defRPr>
            </a:pPr>
            <a:r>
              <a:t>• Informele netwerkavond met toernooielement</a:t>
            </a:r>
          </a:p>
          <a:p>
            <a:pPr>
              <a:spcBef>
                <a:spcPts val="300"/>
              </a:spcBef>
              <a:defRPr sz="900">
                <a:solidFill>
                  <a:srgbClr val="D2D2D7"/>
                </a:solidFill>
                <a:latin typeface="Arial"/>
              </a:defRPr>
            </a:pPr>
            <a:r>
              <a:t>• Lachen en netwerken in één dynamisch format</a:t>
            </a:r>
          </a:p>
          <a:p>
            <a:pPr>
              <a:spcBef>
                <a:spcPts val="300"/>
              </a:spcBef>
              <a:defRPr sz="900">
                <a:solidFill>
                  <a:srgbClr val="D2D2D7"/>
                </a:solidFill>
                <a:latin typeface="Arial"/>
              </a:defRPr>
            </a:pPr>
            <a:r>
              <a:t>• Ideale sponsormogelijkheden rondom de trofee</a:t>
            </a:r>
          </a:p>
          <a:p>
            <a:pPr>
              <a:spcBef>
                <a:spcPts val="300"/>
              </a:spcBef>
              <a:defRPr sz="900">
                <a:solidFill>
                  <a:srgbClr val="D2D2D7"/>
                </a:solidFill>
                <a:latin typeface="Arial"/>
              </a:defRPr>
            </a:pPr>
            <a:r>
              <a:t>• Directe leadgeneratie voor nieuwe bedrijfsuitjes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FINANCIEEL MODEL</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Verdienmodel: Drie Inkomstenstromen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7</a:t>
            </a:r>
          </a:p>
        </p:txBody>
      </p:sp>
      <p:sp>
        <p:nvSpPr>
          <p:cNvPr id="9" name="Rounded Rectangle 8"/>
          <p:cNvSpPr/>
          <p:nvPr/>
        </p:nvSpPr>
        <p:spPr>
          <a:xfrm>
            <a:off x="731520"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874520"/>
            <a:ext cx="2999232" cy="4114800"/>
          </a:xfrm>
          <a:prstGeom prst="rect">
            <a:avLst/>
          </a:prstGeom>
          <a:noFill/>
        </p:spPr>
        <p:txBody>
          <a:bodyPr wrap="square" lIns="0" tIns="0">
            <a:spAutoFit/>
          </a:bodyPr>
          <a:lstStyle/>
          <a:p>
            <a:pPr>
              <a:defRPr sz="1150" b="1">
                <a:solidFill>
                  <a:srgbClr val="FF6B00"/>
                </a:solidFill>
                <a:latin typeface="Arial Black"/>
              </a:defRPr>
            </a:pPr>
            <a:r>
              <a:t>1. DIRECTE CLINIC OMZET</a:t>
            </a:r>
          </a:p>
          <a:p>
            <a:pPr>
              <a:spcBef>
                <a:spcPts val="200"/>
              </a:spcBef>
              <a:defRPr sz="950">
                <a:solidFill>
                  <a:srgbClr val="8C8C96"/>
                </a:solidFill>
                <a:latin typeface="Arial"/>
              </a:defRPr>
            </a:pPr>
            <a:r>
              <a:t>De Kernmotor</a:t>
            </a:r>
          </a:p>
          <a:p>
            <a:pPr>
              <a:spcBef>
                <a:spcPts val="600"/>
              </a:spcBef>
              <a:defRPr sz="800">
                <a:solidFill>
                  <a:srgbClr val="32323C"/>
                </a:solidFill>
              </a:defRPr>
            </a:pPr>
            <a:r>
              <a:t>——————————————————</a:t>
            </a:r>
          </a:p>
          <a:p>
            <a:pPr>
              <a:spcBef>
                <a:spcPts val="800"/>
              </a:spcBef>
              <a:defRPr sz="950">
                <a:solidFill>
                  <a:srgbClr val="D2D2D7"/>
                </a:solidFill>
                <a:latin typeface="Arial"/>
              </a:defRPr>
            </a:pPr>
            <a:r>
              <a:t>• Vaste pakketprijzen (€395 voor Kick-off, €745 voor Company Battle).</a:t>
            </a:r>
          </a:p>
          <a:p>
            <a:pPr>
              <a:spcBef>
                <a:spcPts val="800"/>
              </a:spcBef>
              <a:defRPr sz="950">
                <a:solidFill>
                  <a:srgbClr val="D2D2D7"/>
                </a:solidFill>
                <a:latin typeface="Arial"/>
              </a:defRPr>
            </a:pPr>
            <a:r>
              <a:t>• Hoge brutomarge (80-85%): materiaal is reeds aangeschaft, hoofdkost is tijd &amp; reiskosten.</a:t>
            </a:r>
          </a:p>
          <a:p>
            <a:pPr>
              <a:spcBef>
                <a:spcPts val="800"/>
              </a:spcBef>
              <a:defRPr sz="950">
                <a:solidFill>
                  <a:srgbClr val="D2D2D7"/>
                </a:solidFill>
                <a:latin typeface="Arial"/>
              </a:defRPr>
            </a:pPr>
            <a:r>
              <a:t>• Opschaling: 2e trainer toevoegen bij groepen &gt; 12 personen (+€250-€350 opslag).</a:t>
            </a:r>
          </a:p>
        </p:txBody>
      </p:sp>
      <p:sp>
        <p:nvSpPr>
          <p:cNvPr id="12" name="Rounded Rectangle 11"/>
          <p:cNvSpPr/>
          <p:nvPr/>
        </p:nvSpPr>
        <p:spPr>
          <a:xfrm>
            <a:off x="4370832"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1874520"/>
            <a:ext cx="2999232" cy="4114800"/>
          </a:xfrm>
          <a:prstGeom prst="rect">
            <a:avLst/>
          </a:prstGeom>
          <a:noFill/>
        </p:spPr>
        <p:txBody>
          <a:bodyPr wrap="square" lIns="0" tIns="0">
            <a:spAutoFit/>
          </a:bodyPr>
          <a:lstStyle/>
          <a:p>
            <a:pPr>
              <a:defRPr sz="1150" b="1">
                <a:solidFill>
                  <a:srgbClr val="FFFFFF"/>
                </a:solidFill>
                <a:latin typeface="Arial Black"/>
              </a:defRPr>
            </a:pPr>
            <a:r>
              <a:t>2. UPSELLS &amp; ARRANGEMENTEN</a:t>
            </a:r>
          </a:p>
          <a:p>
            <a:pPr>
              <a:spcBef>
                <a:spcPts val="200"/>
              </a:spcBef>
              <a:defRPr sz="950">
                <a:solidFill>
                  <a:srgbClr val="8C8C96"/>
                </a:solidFill>
                <a:latin typeface="Arial"/>
              </a:defRPr>
            </a:pPr>
            <a:r>
              <a:t>Hogere Orderwaarde</a:t>
            </a:r>
          </a:p>
          <a:p>
            <a:pPr>
              <a:spcBef>
                <a:spcPts val="600"/>
              </a:spcBef>
              <a:defRPr sz="800">
                <a:solidFill>
                  <a:srgbClr val="32323C"/>
                </a:solidFill>
              </a:defRPr>
            </a:pPr>
            <a:r>
              <a:t>——————————————————</a:t>
            </a:r>
          </a:p>
          <a:p>
            <a:pPr>
              <a:spcBef>
                <a:spcPts val="800"/>
              </a:spcBef>
              <a:defRPr sz="950">
                <a:solidFill>
                  <a:srgbClr val="D2D2D7"/>
                </a:solidFill>
                <a:latin typeface="Arial"/>
              </a:defRPr>
            </a:pPr>
            <a:r>
              <a:t>• Borrel- &amp; bittergarnituur arrangement (+€25 tot €45 p.p.).</a:t>
            </a:r>
          </a:p>
          <a:p>
            <a:pPr>
              <a:spcBef>
                <a:spcPts val="800"/>
              </a:spcBef>
              <a:defRPr sz="950">
                <a:solidFill>
                  <a:srgbClr val="D2D2D7"/>
                </a:solidFill>
                <a:latin typeface="Arial"/>
              </a:defRPr>
            </a:pPr>
            <a:r>
              <a:t>• Gepersonaliseerde TT Clinics batjes met bedrijfslogo als blijvend aandenken.</a:t>
            </a:r>
          </a:p>
          <a:p>
            <a:pPr>
              <a:spcBef>
                <a:spcPts val="800"/>
              </a:spcBef>
              <a:defRPr sz="950">
                <a:solidFill>
                  <a:srgbClr val="D2D2D7"/>
                </a:solidFill>
                <a:latin typeface="Arial"/>
              </a:defRPr>
            </a:pPr>
            <a:r>
              <a:t>• Professionele aftermovie / fotoreportage van het toernooi voor interne communicatie.</a:t>
            </a:r>
          </a:p>
        </p:txBody>
      </p:sp>
      <p:sp>
        <p:nvSpPr>
          <p:cNvPr id="15" name="Rounded Rectangle 14"/>
          <p:cNvSpPr/>
          <p:nvPr/>
        </p:nvSpPr>
        <p:spPr>
          <a:xfrm>
            <a:off x="8010144"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8744" y="1874520"/>
            <a:ext cx="2999232" cy="4114800"/>
          </a:xfrm>
          <a:prstGeom prst="rect">
            <a:avLst/>
          </a:prstGeom>
          <a:noFill/>
        </p:spPr>
        <p:txBody>
          <a:bodyPr wrap="square" lIns="0" tIns="0">
            <a:spAutoFit/>
          </a:bodyPr>
          <a:lstStyle/>
          <a:p>
            <a:pPr>
              <a:defRPr sz="1150" b="1">
                <a:solidFill>
                  <a:srgbClr val="FF9A4D"/>
                </a:solidFill>
                <a:latin typeface="Arial Black"/>
              </a:defRPr>
            </a:pPr>
            <a:r>
              <a:t>3. RECURRING BEDRIJFSCOMPETITIES</a:t>
            </a:r>
          </a:p>
          <a:p>
            <a:pPr>
              <a:spcBef>
                <a:spcPts val="200"/>
              </a:spcBef>
              <a:defRPr sz="950">
                <a:solidFill>
                  <a:srgbClr val="8C8C96"/>
                </a:solidFill>
                <a:latin typeface="Arial"/>
              </a:defRPr>
            </a:pPr>
            <a:r>
              <a:t>Terugkerende Omzet</a:t>
            </a:r>
          </a:p>
          <a:p>
            <a:pPr>
              <a:spcBef>
                <a:spcPts val="600"/>
              </a:spcBef>
              <a:defRPr sz="800">
                <a:solidFill>
                  <a:srgbClr val="32323C"/>
                </a:solidFill>
              </a:defRPr>
            </a:pPr>
            <a:r>
              <a:t>——————————————————</a:t>
            </a:r>
          </a:p>
          <a:p>
            <a:pPr>
              <a:spcBef>
                <a:spcPts val="800"/>
              </a:spcBef>
              <a:defRPr sz="950">
                <a:solidFill>
                  <a:srgbClr val="D2D2D7"/>
                </a:solidFill>
                <a:latin typeface="Arial"/>
              </a:defRPr>
            </a:pPr>
            <a:r>
              <a:t>• Jaarlijkse interne kantoorcompetitie: 4 kwartaalrondes met finale dag.</a:t>
            </a:r>
          </a:p>
          <a:p>
            <a:pPr>
              <a:spcBef>
                <a:spcPts val="800"/>
              </a:spcBef>
              <a:defRPr sz="950">
                <a:solidFill>
                  <a:srgbClr val="D2D2D7"/>
                </a:solidFill>
                <a:latin typeface="Arial"/>
              </a:defRPr>
            </a:pPr>
            <a:r>
              <a:t>• Maandelijkse vitaliteitsclinic als vast onderdeel van het bedrijfsprogramma.</a:t>
            </a:r>
          </a:p>
          <a:p>
            <a:pPr>
              <a:spcBef>
                <a:spcPts val="800"/>
              </a:spcBef>
              <a:defRPr sz="950">
                <a:solidFill>
                  <a:srgbClr val="D2D2D7"/>
                </a:solidFill>
                <a:latin typeface="Arial"/>
              </a:defRPr>
            </a:pPr>
            <a:r>
              <a:t>• Voorspelbare cashflow en langdurige klantrelaties met vaste bedrijven.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COMMERCIËLE STRATEGIE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Marketing &amp; Go-To-Market: Hoe Werven We Klanten?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8</a:t>
            </a:r>
          </a:p>
        </p:txBody>
      </p:sp>
      <p:sp>
        <p:nvSpPr>
          <p:cNvPr id="9" name="Rounded Rectangle 8"/>
          <p:cNvSpPr/>
          <p:nvPr/>
        </p:nvSpPr>
        <p:spPr>
          <a:xfrm>
            <a:off x="73152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FFFFFF"/>
                </a:solidFill>
                <a:latin typeface="Arial Black"/>
              </a:defRPr>
            </a:pPr>
            <a:r>
              <a:t>WEBSITE &amp; LOKALE B2B SEO</a:t>
            </a:r>
          </a:p>
          <a:p>
            <a:pPr>
              <a:spcBef>
                <a:spcPts val="100"/>
              </a:spcBef>
              <a:defRPr sz="950">
                <a:solidFill>
                  <a:srgbClr val="FF6B00"/>
                </a:solidFill>
                <a:latin typeface="Arial"/>
              </a:defRPr>
            </a:pPr>
            <a:r>
              <a:t>ttclinics.nl</a:t>
            </a:r>
          </a:p>
          <a:p>
            <a:pPr>
              <a:spcBef>
                <a:spcPts val="300"/>
              </a:spcBef>
              <a:defRPr sz="900">
                <a:solidFill>
                  <a:srgbClr val="D2D2D7"/>
                </a:solidFill>
                <a:latin typeface="Arial"/>
              </a:defRPr>
            </a:pPr>
            <a:r>
              <a:t>• Hoog scoren op zoektermen als 'bedrijfsuitje tafeltennis', 'sportieve teamclinic', 'vitaliteitsdag kantoor'.</a:t>
            </a:r>
          </a:p>
          <a:p>
            <a:pPr>
              <a:spcBef>
                <a:spcPts val="300"/>
              </a:spcBef>
              <a:defRPr sz="900">
                <a:solidFill>
                  <a:srgbClr val="D2D2D7"/>
                </a:solidFill>
                <a:latin typeface="Arial"/>
              </a:defRPr>
            </a:pPr>
            <a:r>
              <a:t>• Heldere pakketprijzen en directe online offerte-aanvraag flow.</a:t>
            </a:r>
          </a:p>
          <a:p>
            <a:pPr>
              <a:spcBef>
                <a:spcPts val="300"/>
              </a:spcBef>
              <a:defRPr sz="900">
                <a:solidFill>
                  <a:srgbClr val="D2D2D7"/>
                </a:solidFill>
                <a:latin typeface="Arial"/>
              </a:defRPr>
            </a:pPr>
            <a:r>
              <a:t>• Social proof: reviews, foto's en video-impressies van gespeelde toernooien.</a:t>
            </a:r>
          </a:p>
        </p:txBody>
      </p:sp>
      <p:sp>
        <p:nvSpPr>
          <p:cNvPr id="11" name="Rounded Rectangle 10"/>
          <p:cNvSpPr/>
          <p:nvPr/>
        </p:nvSpPr>
        <p:spPr>
          <a:xfrm>
            <a:off x="617220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FFFFFF"/>
                </a:solidFill>
                <a:latin typeface="Arial Black"/>
              </a:defRPr>
            </a:pPr>
            <a:r>
              <a:t>LINKEDIN CONTENT MARKETING</a:t>
            </a:r>
          </a:p>
          <a:p>
            <a:pPr>
              <a:spcBef>
                <a:spcPts val="100"/>
              </a:spcBef>
              <a:defRPr sz="950">
                <a:solidFill>
                  <a:srgbClr val="FF6B00"/>
                </a:solidFill>
                <a:latin typeface="Arial"/>
              </a:defRPr>
            </a:pPr>
            <a:r>
              <a:t>B2B Autoriteit</a:t>
            </a:r>
          </a:p>
          <a:p>
            <a:pPr>
              <a:spcBef>
                <a:spcPts val="300"/>
              </a:spcBef>
              <a:defRPr sz="900">
                <a:solidFill>
                  <a:srgbClr val="D2D2D7"/>
                </a:solidFill>
                <a:latin typeface="Arial"/>
              </a:defRPr>
            </a:pPr>
            <a:r>
              <a:t>• Korte dynamische video-reels van clinics: sfeer, tricks en juichende collega's.</a:t>
            </a:r>
          </a:p>
          <a:p>
            <a:pPr>
              <a:spcBef>
                <a:spcPts val="300"/>
              </a:spcBef>
              <a:defRPr sz="900">
                <a:solidFill>
                  <a:srgbClr val="D2D2D7"/>
                </a:solidFill>
                <a:latin typeface="Arial"/>
              </a:defRPr>
            </a:pPr>
            <a:r>
              <a:t>• Artikelen over schermmoeheid, micro-pauzes en de voordelen van tafeltennis voor de hersenen.</a:t>
            </a:r>
          </a:p>
          <a:p>
            <a:pPr>
              <a:spcBef>
                <a:spcPts val="300"/>
              </a:spcBef>
              <a:defRPr sz="900">
                <a:solidFill>
                  <a:srgbClr val="D2D2D7"/>
                </a:solidFill>
                <a:latin typeface="Arial"/>
              </a:defRPr>
            </a:pPr>
            <a:r>
              <a:t>• Direct benaderen van HR-managers, Office Managers en Event Coördinatoren.</a:t>
            </a:r>
          </a:p>
        </p:txBody>
      </p:sp>
      <p:sp>
        <p:nvSpPr>
          <p:cNvPr id="13" name="Rounded Rectangle 12"/>
          <p:cNvSpPr/>
          <p:nvPr/>
        </p:nvSpPr>
        <p:spPr>
          <a:xfrm>
            <a:off x="73152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FFFFFF"/>
                </a:solidFill>
                <a:latin typeface="Arial Black"/>
              </a:defRPr>
            </a:pPr>
            <a:r>
              <a:t>VLIEGWIEL / MOND-TOT-MOND</a:t>
            </a:r>
          </a:p>
          <a:p>
            <a:pPr>
              <a:spcBef>
                <a:spcPts val="100"/>
              </a:spcBef>
              <a:defRPr sz="950">
                <a:solidFill>
                  <a:srgbClr val="FF6B00"/>
                </a:solidFill>
                <a:latin typeface="Arial"/>
              </a:defRPr>
            </a:pPr>
            <a:r>
              <a:t>Elke Clinic is een Pitch</a:t>
            </a:r>
          </a:p>
          <a:p>
            <a:pPr>
              <a:spcBef>
                <a:spcPts val="300"/>
              </a:spcBef>
              <a:defRPr sz="900">
                <a:solidFill>
                  <a:srgbClr val="D2D2D7"/>
                </a:solidFill>
                <a:latin typeface="Arial"/>
              </a:defRPr>
            </a:pPr>
            <a:r>
              <a:t>• Deelnemers aan een clinic zijn managers of medewerkers bij andere projecten/bedrijven.</a:t>
            </a:r>
          </a:p>
          <a:p>
            <a:pPr>
              <a:spcBef>
                <a:spcPts val="300"/>
              </a:spcBef>
              <a:defRPr sz="900">
                <a:solidFill>
                  <a:srgbClr val="D2D2D7"/>
                </a:solidFill>
                <a:latin typeface="Arial"/>
              </a:defRPr>
            </a:pPr>
            <a:r>
              <a:t>• Iedere clinic levert direct nieuwe ambassadeurs en doorverwijzingen op.</a:t>
            </a:r>
          </a:p>
          <a:p>
            <a:pPr>
              <a:spcBef>
                <a:spcPts val="300"/>
              </a:spcBef>
              <a:defRPr sz="900">
                <a:solidFill>
                  <a:srgbClr val="D2D2D7"/>
                </a:solidFill>
                <a:latin typeface="Arial"/>
              </a:defRPr>
            </a:pPr>
            <a:r>
              <a:t>• Visitekaartjes met directe QR-code uitdelen na afloop van de clinic.</a:t>
            </a:r>
          </a:p>
        </p:txBody>
      </p:sp>
      <p:sp>
        <p:nvSpPr>
          <p:cNvPr id="15" name="Rounded Rectangle 14"/>
          <p:cNvSpPr/>
          <p:nvPr/>
        </p:nvSpPr>
        <p:spPr>
          <a:xfrm>
            <a:off x="617220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FFFFFF"/>
                </a:solidFill>
                <a:latin typeface="Arial Black"/>
              </a:defRPr>
            </a:pPr>
            <a:r>
              <a:t>PARTNERSHIPS &amp; LOKALE CLUBS</a:t>
            </a:r>
          </a:p>
          <a:p>
            <a:pPr>
              <a:spcBef>
                <a:spcPts val="100"/>
              </a:spcBef>
              <a:defRPr sz="950">
                <a:solidFill>
                  <a:srgbClr val="FF6B00"/>
                </a:solidFill>
                <a:latin typeface="Arial"/>
              </a:defRPr>
            </a:pPr>
            <a:r>
              <a:t>Netwerk</a:t>
            </a:r>
          </a:p>
          <a:p>
            <a:pPr>
              <a:spcBef>
                <a:spcPts val="300"/>
              </a:spcBef>
              <a:defRPr sz="900">
                <a:solidFill>
                  <a:srgbClr val="D2D2D7"/>
                </a:solidFill>
                <a:latin typeface="Arial"/>
              </a:defRPr>
            </a:pPr>
            <a:r>
              <a:t>• Samenwerking met tafeltennisverenigingen voor zaalverhuur en bardiensten.</a:t>
            </a:r>
          </a:p>
          <a:p>
            <a:pPr>
              <a:spcBef>
                <a:spcPts val="300"/>
              </a:spcBef>
              <a:defRPr sz="900">
                <a:solidFill>
                  <a:srgbClr val="D2D2D7"/>
                </a:solidFill>
                <a:latin typeface="Arial"/>
              </a:defRPr>
            </a:pPr>
            <a:r>
              <a:t>• Koppeling met cateringbedrijven en evenementenlocaties voor complete dagarrangementen.</a:t>
            </a:r>
          </a:p>
          <a:p>
            <a:pPr>
              <a:spcBef>
                <a:spcPts val="300"/>
              </a:spcBef>
              <a:defRPr sz="900">
                <a:solidFill>
                  <a:srgbClr val="D2D2D7"/>
                </a:solidFill>
                <a:latin typeface="Arial"/>
              </a:defRPr>
            </a:pPr>
            <a:r>
              <a:t>• Actieve aanwezigheid bij lokale business clubs en netwerklunches.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OPERATIE &amp; UITVOERING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Operationele Uitrusting &amp; Schaalbare Logistiek</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9</a:t>
            </a:r>
          </a:p>
        </p:txBody>
      </p:sp>
      <p:sp>
        <p:nvSpPr>
          <p:cNvPr id="9" name="Rounded Rectangle 8"/>
          <p:cNvSpPr/>
          <p:nvPr/>
        </p:nvSpPr>
        <p:spPr>
          <a:xfrm>
            <a:off x="73152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FF6B00"/>
                </a:solidFill>
                <a:latin typeface="Arial Black"/>
              </a:defRPr>
            </a:pPr>
            <a:r>
              <a:t>PROFESSIONELE UITRUSTING</a:t>
            </a:r>
          </a:p>
          <a:p>
            <a:pPr>
              <a:spcBef>
                <a:spcPts val="100"/>
              </a:spcBef>
              <a:defRPr sz="950">
                <a:solidFill>
                  <a:srgbClr val="8C8C96"/>
                </a:solidFill>
                <a:latin typeface="Arial"/>
              </a:defRPr>
            </a:pPr>
            <a:r>
              <a:t>Wedstrijdklasse Materiaal</a:t>
            </a:r>
          </a:p>
          <a:p>
            <a:pPr>
              <a:spcBef>
                <a:spcPts val="300"/>
              </a:spcBef>
              <a:defRPr sz="900">
                <a:solidFill>
                  <a:srgbClr val="D2D2D7"/>
                </a:solidFill>
                <a:latin typeface="Arial"/>
              </a:defRPr>
            </a:pPr>
            <a:r>
              <a:t>• Mobiele ITTF-goedgekeurde wedstrijdtafels en mobiele netsets.</a:t>
            </a:r>
          </a:p>
          <a:p>
            <a:pPr>
              <a:spcBef>
                <a:spcPts val="300"/>
              </a:spcBef>
              <a:defRPr sz="900">
                <a:solidFill>
                  <a:srgbClr val="D2D2D7"/>
                </a:solidFill>
                <a:latin typeface="Arial"/>
              </a:defRPr>
            </a:pPr>
            <a:r>
              <a:t>• Hoogwaardige trainingsbatjes met professionele rubbers (voor maximale controle en spin).</a:t>
            </a:r>
          </a:p>
          <a:p>
            <a:pPr>
              <a:spcBef>
                <a:spcPts val="300"/>
              </a:spcBef>
              <a:defRPr sz="900">
                <a:solidFill>
                  <a:srgbClr val="D2D2D7"/>
                </a:solidFill>
                <a:latin typeface="Arial"/>
              </a:defRPr>
            </a:pPr>
            <a:r>
              <a:t>• Officiële 3-sterren wedstrijdballen met TT Clinics logobedrukking.</a:t>
            </a:r>
          </a:p>
          <a:p>
            <a:pPr>
              <a:spcBef>
                <a:spcPts val="300"/>
              </a:spcBef>
              <a:defRPr sz="900">
                <a:solidFill>
                  <a:srgbClr val="D2D2D7"/>
                </a:solidFill>
                <a:latin typeface="Arial"/>
              </a:defRPr>
            </a:pPr>
            <a:r>
              <a:t>• Gepersonaliseerde wisseltrofeeën en toernooimedailles.</a:t>
            </a:r>
          </a:p>
        </p:txBody>
      </p:sp>
      <p:sp>
        <p:nvSpPr>
          <p:cNvPr id="11" name="Rounded Rectangle 10"/>
          <p:cNvSpPr/>
          <p:nvPr/>
        </p:nvSpPr>
        <p:spPr>
          <a:xfrm>
            <a:off x="6172200" y="1645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FF6B00"/>
                </a:solidFill>
                <a:latin typeface="Arial Black"/>
              </a:defRPr>
            </a:pPr>
            <a:r>
              <a:t>LOCATIE FLEXIBILITEIT</a:t>
            </a:r>
          </a:p>
          <a:p>
            <a:pPr>
              <a:spcBef>
                <a:spcPts val="100"/>
              </a:spcBef>
              <a:defRPr sz="950">
                <a:solidFill>
                  <a:srgbClr val="8C8C96"/>
                </a:solidFill>
                <a:latin typeface="Arial"/>
              </a:defRPr>
            </a:pPr>
            <a:r>
              <a:t>Overal Speelklaar</a:t>
            </a:r>
          </a:p>
          <a:p>
            <a:pPr>
              <a:spcBef>
                <a:spcPts val="300"/>
              </a:spcBef>
              <a:defRPr sz="900">
                <a:solidFill>
                  <a:srgbClr val="D2D2D7"/>
                </a:solidFill>
                <a:latin typeface="Arial"/>
              </a:defRPr>
            </a:pPr>
            <a:r>
              <a:t>• Kantoor/Bedrijfskantine: Wij transformeren elke vergaderzaal of kantine in 20 minuten tot toernooiarena.</a:t>
            </a:r>
          </a:p>
          <a:p>
            <a:pPr>
              <a:spcBef>
                <a:spcPts val="300"/>
              </a:spcBef>
              <a:defRPr sz="900">
                <a:solidFill>
                  <a:srgbClr val="D2D2D7"/>
                </a:solidFill>
                <a:latin typeface="Arial"/>
              </a:defRPr>
            </a:pPr>
            <a:r>
              <a:t>• Sportaccommodaties: Vaste afspraken met zalen inclusief kleedkamers en afsluitende horeca/borrel.</a:t>
            </a:r>
          </a:p>
          <a:p>
            <a:pPr>
              <a:spcBef>
                <a:spcPts val="300"/>
              </a:spcBef>
              <a:defRPr sz="900">
                <a:solidFill>
                  <a:srgbClr val="D2D2D7"/>
                </a:solidFill>
                <a:latin typeface="Arial"/>
              </a:defRPr>
            </a:pPr>
            <a:r>
              <a:t>• Outdoor opties: Bij mooi weer op buitenpleinen of dakterrassen.</a:t>
            </a:r>
          </a:p>
        </p:txBody>
      </p:sp>
      <p:sp>
        <p:nvSpPr>
          <p:cNvPr id="13" name="Rounded Rectangle 12"/>
          <p:cNvSpPr/>
          <p:nvPr/>
        </p:nvSpPr>
        <p:spPr>
          <a:xfrm>
            <a:off x="73152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FF6B00"/>
                </a:solidFill>
                <a:latin typeface="Arial Black"/>
              </a:defRPr>
            </a:pPr>
            <a:r>
              <a:t>SCHAALBAAR TRAINERSMODEL</a:t>
            </a:r>
          </a:p>
          <a:p>
            <a:pPr>
              <a:spcBef>
                <a:spcPts val="100"/>
              </a:spcBef>
              <a:defRPr sz="950">
                <a:solidFill>
                  <a:srgbClr val="8C8C96"/>
                </a:solidFill>
                <a:latin typeface="Arial"/>
              </a:defRPr>
            </a:pPr>
            <a:r>
              <a:t>Capaciteit Uitbreiden</a:t>
            </a:r>
          </a:p>
          <a:p>
            <a:pPr>
              <a:spcBef>
                <a:spcPts val="300"/>
              </a:spcBef>
              <a:defRPr sz="900">
                <a:solidFill>
                  <a:srgbClr val="D2D2D7"/>
                </a:solidFill>
                <a:latin typeface="Arial"/>
              </a:defRPr>
            </a:pPr>
            <a:r>
              <a:t>• Edward Westhoff als hoofdtrainer en hét vertrouwde gezicht van TT Clinics.</a:t>
            </a:r>
          </a:p>
          <a:p>
            <a:pPr>
              <a:spcBef>
                <a:spcPts val="300"/>
              </a:spcBef>
              <a:defRPr sz="900">
                <a:solidFill>
                  <a:srgbClr val="D2D2D7"/>
                </a:solidFill>
                <a:latin typeface="Arial"/>
              </a:defRPr>
            </a:pPr>
            <a:r>
              <a:t>• Pool van ervaren competitiespelers en gediplomeerde gasttrainers voor piekmomenten.</a:t>
            </a:r>
          </a:p>
          <a:p>
            <a:pPr>
              <a:spcBef>
                <a:spcPts val="300"/>
              </a:spcBef>
              <a:defRPr sz="900">
                <a:solidFill>
                  <a:srgbClr val="D2D2D7"/>
                </a:solidFill>
                <a:latin typeface="Arial"/>
              </a:defRPr>
            </a:pPr>
            <a:r>
              <a:t>• Standaard clinic-draaiboek garandeert consistente kwaliteit en hoge klanttevredenheid.</a:t>
            </a:r>
          </a:p>
        </p:txBody>
      </p:sp>
      <p:sp>
        <p:nvSpPr>
          <p:cNvPr id="15" name="Rounded Rectangle 14"/>
          <p:cNvSpPr/>
          <p:nvPr/>
        </p:nvSpPr>
        <p:spPr>
          <a:xfrm>
            <a:off x="6172200" y="3931920"/>
            <a:ext cx="5257800" cy="20574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FF6B00"/>
                </a:solidFill>
                <a:latin typeface="Arial Black"/>
              </a:defRPr>
            </a:pPr>
            <a:r>
              <a:t>KLANTREIS &amp; ONTZORGING</a:t>
            </a:r>
          </a:p>
          <a:p>
            <a:pPr>
              <a:spcBef>
                <a:spcPts val="100"/>
              </a:spcBef>
              <a:defRPr sz="950">
                <a:solidFill>
                  <a:srgbClr val="8C8C96"/>
                </a:solidFill>
                <a:latin typeface="Arial"/>
              </a:defRPr>
            </a:pPr>
            <a:r>
              <a:t>Van Aanvraag tot Trofee</a:t>
            </a:r>
          </a:p>
          <a:p>
            <a:pPr>
              <a:spcBef>
                <a:spcPts val="300"/>
              </a:spcBef>
              <a:defRPr sz="900">
                <a:solidFill>
                  <a:srgbClr val="D2D2D7"/>
                </a:solidFill>
                <a:latin typeface="Arial"/>
              </a:defRPr>
            </a:pPr>
            <a:r>
              <a:t>• Binnen 24 uur persoonlijk contact en offerte op maat.</a:t>
            </a:r>
          </a:p>
          <a:p>
            <a:pPr>
              <a:spcBef>
                <a:spcPts val="300"/>
              </a:spcBef>
              <a:defRPr sz="900">
                <a:solidFill>
                  <a:srgbClr val="D2D2D7"/>
                </a:solidFill>
                <a:latin typeface="Arial"/>
              </a:defRPr>
            </a:pPr>
            <a:r>
              <a:t>• Voorbereiding: Inventarisatie van ruimte en specifieke wensen.</a:t>
            </a:r>
          </a:p>
          <a:p>
            <a:pPr>
              <a:spcBef>
                <a:spcPts val="300"/>
              </a:spcBef>
              <a:defRPr sz="900">
                <a:solidFill>
                  <a:srgbClr val="D2D2D7"/>
                </a:solidFill>
                <a:latin typeface="Arial"/>
              </a:defRPr>
            </a:pPr>
            <a:r>
              <a:t>• Uitvoering: Complete toernooileiding, muziek, coaching en prijsuitreiking.</a:t>
            </a:r>
          </a:p>
          <a:p>
            <a:pPr>
              <a:spcBef>
                <a:spcPts val="300"/>
              </a:spcBef>
              <a:defRPr sz="900">
                <a:solidFill>
                  <a:srgbClr val="D2D2D7"/>
                </a:solidFill>
                <a:latin typeface="Arial"/>
              </a:defRPr>
            </a:pPr>
            <a:r>
              <a:t>• Nazorg: Foto's toesturen en evaluatiegesprek voor vervolgclinic.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GROEIPAD &amp; DOELEN</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Financiële Roadmap &amp; Mijlpalen 2026 - 2028</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10</a:t>
            </a:r>
          </a:p>
        </p:txBody>
      </p:sp>
      <p:sp>
        <p:nvSpPr>
          <p:cNvPr id="9" name="Rounded Rectangle 8"/>
          <p:cNvSpPr/>
          <p:nvPr/>
        </p:nvSpPr>
        <p:spPr>
          <a:xfrm>
            <a:off x="731520"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74520"/>
            <a:ext cx="2999232" cy="4114800"/>
          </a:xfrm>
          <a:prstGeom prst="rect">
            <a:avLst/>
          </a:prstGeom>
          <a:noFill/>
        </p:spPr>
        <p:txBody>
          <a:bodyPr wrap="square" lIns="0" tIns="0">
            <a:spAutoFit/>
          </a:bodyPr>
          <a:lstStyle/>
          <a:p>
            <a:pPr>
              <a:defRPr sz="1200" b="1">
                <a:solidFill>
                  <a:srgbClr val="FFFFFF"/>
                </a:solidFill>
                <a:latin typeface="Arial Black"/>
              </a:defRPr>
            </a:pPr>
            <a:r>
              <a:t>FASE 1: 2026</a:t>
            </a:r>
          </a:p>
          <a:p>
            <a:pPr>
              <a:spcBef>
                <a:spcPts val="200"/>
              </a:spcBef>
              <a:defRPr sz="1400" b="1">
                <a:solidFill>
                  <a:srgbClr val="FFFFFF"/>
                </a:solidFill>
                <a:latin typeface="Arial Black"/>
              </a:defRPr>
            </a:pPr>
            <a:r>
              <a:t>Fundament &amp; Tractie</a:t>
            </a:r>
          </a:p>
          <a:p>
            <a:pPr>
              <a:spcBef>
                <a:spcPts val="400"/>
              </a:spcBef>
              <a:defRPr sz="1200" b="1">
                <a:solidFill>
                  <a:srgbClr val="FF6B00"/>
                </a:solidFill>
                <a:latin typeface="Arial Black"/>
              </a:defRPr>
            </a:pPr>
            <a:r>
              <a:t>Omzetdoel: €25.000 - €35.000</a:t>
            </a:r>
          </a:p>
          <a:p>
            <a:pPr>
              <a:spcBef>
                <a:spcPts val="600"/>
              </a:spcBef>
              <a:defRPr sz="800">
                <a:solidFill>
                  <a:srgbClr val="32323C"/>
                </a:solidFill>
              </a:defRPr>
            </a:pPr>
            <a:r>
              <a:t>——————————————————</a:t>
            </a:r>
          </a:p>
          <a:p>
            <a:pPr>
              <a:spcBef>
                <a:spcPts val="600"/>
              </a:spcBef>
              <a:defRPr sz="950">
                <a:solidFill>
                  <a:srgbClr val="D2D2D7"/>
                </a:solidFill>
                <a:latin typeface="Arial"/>
              </a:defRPr>
            </a:pPr>
            <a:r>
              <a:t>✓ 40 - 50 Clinics verzorgen.</a:t>
            </a:r>
          </a:p>
          <a:p>
            <a:pPr>
              <a:spcBef>
                <a:spcPts val="600"/>
              </a:spcBef>
              <a:defRPr sz="950">
                <a:solidFill>
                  <a:srgbClr val="D2D2D7"/>
                </a:solidFill>
                <a:latin typeface="Arial"/>
              </a:defRPr>
            </a:pPr>
            <a:r>
              <a:t>✓ Conversiegerichte website &amp; leadmachine live.</a:t>
            </a:r>
          </a:p>
          <a:p>
            <a:pPr>
              <a:spcBef>
                <a:spcPts val="600"/>
              </a:spcBef>
              <a:defRPr sz="950">
                <a:solidFill>
                  <a:srgbClr val="D2D2D7"/>
                </a:solidFill>
                <a:latin typeface="Arial"/>
              </a:defRPr>
            </a:pPr>
            <a:r>
              <a:t>✓ Eerste 5 vaste corporate accounts binnenhalen.</a:t>
            </a:r>
          </a:p>
          <a:p>
            <a:pPr>
              <a:spcBef>
                <a:spcPts val="600"/>
              </a:spcBef>
              <a:defRPr sz="950">
                <a:solidFill>
                  <a:srgbClr val="D2D2D7"/>
                </a:solidFill>
                <a:latin typeface="Arial"/>
              </a:defRPr>
            </a:pPr>
            <a:r>
              <a:t>✓ Focus op regio Randstad / Midden-Nederland.</a:t>
            </a:r>
          </a:p>
          <a:p>
            <a:pPr>
              <a:spcBef>
                <a:spcPts val="600"/>
              </a:spcBef>
              <a:defRPr sz="950">
                <a:solidFill>
                  <a:srgbClr val="D2D2D7"/>
                </a:solidFill>
                <a:latin typeface="Arial"/>
              </a:defRPr>
            </a:pPr>
            <a:r>
              <a:t>✓ Klanttevredenheidsscore &gt; 9.0.</a:t>
            </a:r>
          </a:p>
        </p:txBody>
      </p:sp>
      <p:sp>
        <p:nvSpPr>
          <p:cNvPr id="11" name="Rounded Rectangle 10"/>
          <p:cNvSpPr/>
          <p:nvPr/>
        </p:nvSpPr>
        <p:spPr>
          <a:xfrm>
            <a:off x="4370832" y="1645920"/>
            <a:ext cx="3456432" cy="4572000"/>
          </a:xfrm>
          <a:prstGeom prst="roundRect">
            <a:avLst/>
          </a:prstGeom>
          <a:solidFill>
            <a:srgbClr val="261E18"/>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2" y="1874520"/>
            <a:ext cx="2999232" cy="4114800"/>
          </a:xfrm>
          <a:prstGeom prst="rect">
            <a:avLst/>
          </a:prstGeom>
          <a:noFill/>
        </p:spPr>
        <p:txBody>
          <a:bodyPr wrap="square" lIns="0" tIns="0">
            <a:spAutoFit/>
          </a:bodyPr>
          <a:lstStyle/>
          <a:p>
            <a:pPr>
              <a:defRPr sz="1200" b="1">
                <a:solidFill>
                  <a:srgbClr val="FF6B00"/>
                </a:solidFill>
                <a:latin typeface="Arial Black"/>
              </a:defRPr>
            </a:pPr>
            <a:r>
              <a:t>FASE 2: 2027</a:t>
            </a:r>
          </a:p>
          <a:p>
            <a:pPr>
              <a:spcBef>
                <a:spcPts val="200"/>
              </a:spcBef>
              <a:defRPr sz="1400" b="1">
                <a:solidFill>
                  <a:srgbClr val="FFFFFF"/>
                </a:solidFill>
                <a:latin typeface="Arial Black"/>
              </a:defRPr>
            </a:pPr>
            <a:r>
              <a:t>Opschaling &amp; Abonnementen</a:t>
            </a:r>
          </a:p>
          <a:p>
            <a:pPr>
              <a:spcBef>
                <a:spcPts val="400"/>
              </a:spcBef>
              <a:defRPr sz="1200" b="1">
                <a:solidFill>
                  <a:srgbClr val="FF6B00"/>
                </a:solidFill>
                <a:latin typeface="Arial Black"/>
              </a:defRPr>
            </a:pPr>
            <a:r>
              <a:t>Omzetdoel: €60.000 - €75.000</a:t>
            </a:r>
          </a:p>
          <a:p>
            <a:pPr>
              <a:spcBef>
                <a:spcPts val="600"/>
              </a:spcBef>
              <a:defRPr sz="800">
                <a:solidFill>
                  <a:srgbClr val="32323C"/>
                </a:solidFill>
              </a:defRPr>
            </a:pPr>
            <a:r>
              <a:t>——————————————————</a:t>
            </a:r>
          </a:p>
          <a:p>
            <a:pPr>
              <a:spcBef>
                <a:spcPts val="600"/>
              </a:spcBef>
              <a:defRPr sz="950">
                <a:solidFill>
                  <a:srgbClr val="D2D2D7"/>
                </a:solidFill>
                <a:latin typeface="Arial"/>
              </a:defRPr>
            </a:pPr>
            <a:r>
              <a:t>✓ 80 - 100 Clinics per jaar.</a:t>
            </a:r>
          </a:p>
          <a:p>
            <a:pPr>
              <a:spcBef>
                <a:spcPts val="600"/>
              </a:spcBef>
              <a:defRPr sz="950">
                <a:solidFill>
                  <a:srgbClr val="D2D2D7"/>
                </a:solidFill>
                <a:latin typeface="Arial"/>
              </a:defRPr>
            </a:pPr>
            <a:r>
              <a:t>✓ Uitrol terugkerende bedrijfscompetities.</a:t>
            </a:r>
          </a:p>
          <a:p>
            <a:pPr>
              <a:spcBef>
                <a:spcPts val="600"/>
              </a:spcBef>
              <a:defRPr sz="950">
                <a:solidFill>
                  <a:srgbClr val="D2D2D7"/>
                </a:solidFill>
                <a:latin typeface="Arial"/>
              </a:defRPr>
            </a:pPr>
            <a:r>
              <a:t>✓ Aanstellen van 2e trainer voor piekperiodes.</a:t>
            </a:r>
          </a:p>
          <a:p>
            <a:pPr>
              <a:spcBef>
                <a:spcPts val="600"/>
              </a:spcBef>
              <a:defRPr sz="950">
                <a:solidFill>
                  <a:srgbClr val="D2D2D7"/>
                </a:solidFill>
                <a:latin typeface="Arial"/>
              </a:defRPr>
            </a:pPr>
            <a:r>
              <a:t>✓ Partnerships met 3 landelijke evenementenbureaus.</a:t>
            </a:r>
          </a:p>
          <a:p>
            <a:pPr>
              <a:spcBef>
                <a:spcPts val="600"/>
              </a:spcBef>
              <a:defRPr sz="950">
                <a:solidFill>
                  <a:srgbClr val="D2D2D7"/>
                </a:solidFill>
                <a:latin typeface="Arial"/>
              </a:defRPr>
            </a:pPr>
            <a:r>
              <a:t>✓ Introductie custom batjes met bedrijfslogo.</a:t>
            </a:r>
          </a:p>
        </p:txBody>
      </p:sp>
      <p:sp>
        <p:nvSpPr>
          <p:cNvPr id="14" name="Rounded Rectangle 13"/>
          <p:cNvSpPr/>
          <p:nvPr/>
        </p:nvSpPr>
        <p:spPr>
          <a:xfrm>
            <a:off x="8010144" y="1645920"/>
            <a:ext cx="345643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8744" y="1874520"/>
            <a:ext cx="2999232" cy="4114800"/>
          </a:xfrm>
          <a:prstGeom prst="rect">
            <a:avLst/>
          </a:prstGeom>
          <a:noFill/>
        </p:spPr>
        <p:txBody>
          <a:bodyPr wrap="square" lIns="0" tIns="0">
            <a:spAutoFit/>
          </a:bodyPr>
          <a:lstStyle/>
          <a:p>
            <a:pPr>
              <a:defRPr sz="1200" b="1">
                <a:solidFill>
                  <a:srgbClr val="FFFFFF"/>
                </a:solidFill>
                <a:latin typeface="Arial Black"/>
              </a:defRPr>
            </a:pPr>
            <a:r>
              <a:t>FASE 3: 2028</a:t>
            </a:r>
          </a:p>
          <a:p>
            <a:pPr>
              <a:spcBef>
                <a:spcPts val="200"/>
              </a:spcBef>
              <a:defRPr sz="1400" b="1">
                <a:solidFill>
                  <a:srgbClr val="FFFFFF"/>
                </a:solidFill>
                <a:latin typeface="Arial Black"/>
              </a:defRPr>
            </a:pPr>
            <a:r>
              <a:t>Landelijke Autoriteit</a:t>
            </a:r>
          </a:p>
          <a:p>
            <a:pPr>
              <a:spcBef>
                <a:spcPts val="400"/>
              </a:spcBef>
              <a:defRPr sz="1200" b="1">
                <a:solidFill>
                  <a:srgbClr val="FF6B00"/>
                </a:solidFill>
                <a:latin typeface="Arial Black"/>
              </a:defRPr>
            </a:pPr>
            <a:r>
              <a:t>Omzetdoel: €100.000+</a:t>
            </a:r>
          </a:p>
          <a:p>
            <a:pPr>
              <a:spcBef>
                <a:spcPts val="600"/>
              </a:spcBef>
              <a:defRPr sz="800">
                <a:solidFill>
                  <a:srgbClr val="32323C"/>
                </a:solidFill>
              </a:defRPr>
            </a:pPr>
            <a:r>
              <a:t>——————————————————</a:t>
            </a:r>
          </a:p>
          <a:p>
            <a:pPr>
              <a:spcBef>
                <a:spcPts val="600"/>
              </a:spcBef>
              <a:defRPr sz="950">
                <a:solidFill>
                  <a:srgbClr val="D2D2D7"/>
                </a:solidFill>
                <a:latin typeface="Arial"/>
              </a:defRPr>
            </a:pPr>
            <a:r>
              <a:t>✓ 150+ Clinics &amp; toernooien per jaar.</a:t>
            </a:r>
          </a:p>
          <a:p>
            <a:pPr>
              <a:spcBef>
                <a:spcPts val="600"/>
              </a:spcBef>
              <a:defRPr sz="950">
                <a:solidFill>
                  <a:srgbClr val="D2D2D7"/>
                </a:solidFill>
                <a:latin typeface="Arial"/>
              </a:defRPr>
            </a:pPr>
            <a:r>
              <a:t>✓ Vaste vitaliteitspartner voor 20+ corporate klanten.</a:t>
            </a:r>
          </a:p>
          <a:p>
            <a:pPr>
              <a:spcBef>
                <a:spcPts val="600"/>
              </a:spcBef>
              <a:defRPr sz="950">
                <a:solidFill>
                  <a:srgbClr val="D2D2D7"/>
                </a:solidFill>
                <a:latin typeface="Arial"/>
              </a:defRPr>
            </a:pPr>
            <a:r>
              <a:t>✓ Landelijke dekking met gecertificeerde trainers.</a:t>
            </a:r>
          </a:p>
          <a:p>
            <a:pPr>
              <a:spcBef>
                <a:spcPts val="600"/>
              </a:spcBef>
              <a:defRPr sz="950">
                <a:solidFill>
                  <a:srgbClr val="D2D2D7"/>
                </a:solidFill>
                <a:latin typeface="Arial"/>
              </a:defRPr>
            </a:pPr>
            <a:r>
              <a:t>✓ Eigen TT Clinics Bedrijfscompetitie Trophy Finale.</a:t>
            </a:r>
          </a:p>
          <a:p>
            <a:pPr>
              <a:spcBef>
                <a:spcPts val="600"/>
              </a:spcBef>
              <a:defRPr sz="950">
                <a:solidFill>
                  <a:srgbClr val="D2D2D7"/>
                </a:solidFill>
                <a:latin typeface="Arial"/>
              </a:defRPr>
            </a:pPr>
            <a:r>
              <a:t>✓ Gevestigde A-merkpositie in bedrijfsvitaliteit.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FF6B00"/>
                </a:solidFill>
                <a:latin typeface="Arial Black"/>
              </a:defRPr>
            </a:pPr>
            <a:r>
              <a:t>CONCLUSIE &amp; SAMENWERKING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FFFFFF"/>
                </a:solidFill>
                <a:latin typeface="Arial Black"/>
              </a:defRPr>
            </a:pPr>
            <a:r>
              <a:t>Klaar Voor Meer Energie Op De Werkvloer?</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8C8C96"/>
                </a:solidFill>
                <a:latin typeface="Arial"/>
              </a:defRPr>
            </a:pPr>
            <a:r>
              <a:t>TT Clinics  ·  Bedrijfsplan 2026-2028  ·  Edward Westhoff  |  Slide 11</a:t>
            </a:r>
          </a:p>
        </p:txBody>
      </p:sp>
      <p:sp>
        <p:nvSpPr>
          <p:cNvPr id="9" name="Rounded Rectangle 8"/>
          <p:cNvSpPr/>
          <p:nvPr/>
        </p:nvSpPr>
        <p:spPr>
          <a:xfrm>
            <a:off x="731520" y="1645920"/>
            <a:ext cx="6858000"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68580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ro-photo.jpg"/>
          <p:cNvPicPr>
            <a:picLocks noChangeAspect="1"/>
          </p:cNvPicPr>
          <p:nvPr/>
        </p:nvPicPr>
        <p:blipFill>
          <a:blip r:embed="rId3"/>
          <a:stretch>
            <a:fillRect/>
          </a:stretch>
        </p:blipFill>
        <p:spPr>
          <a:xfrm>
            <a:off x="1005840" y="2011680"/>
            <a:ext cx="2011680" cy="1502866"/>
          </a:xfrm>
          <a:prstGeom prst="rect">
            <a:avLst/>
          </a:prstGeom>
        </p:spPr>
      </p:pic>
      <p:sp>
        <p:nvSpPr>
          <p:cNvPr id="12" name="TextBox 11"/>
          <p:cNvSpPr txBox="1"/>
          <p:nvPr/>
        </p:nvSpPr>
        <p:spPr>
          <a:xfrm>
            <a:off x="3291840" y="1920240"/>
            <a:ext cx="4023360" cy="3931920"/>
          </a:xfrm>
          <a:prstGeom prst="rect">
            <a:avLst/>
          </a:prstGeom>
          <a:noFill/>
        </p:spPr>
        <p:txBody>
          <a:bodyPr wrap="square" lIns="0" tIns="0">
            <a:spAutoFit/>
          </a:bodyPr>
          <a:lstStyle/>
          <a:p>
            <a:pPr>
              <a:defRPr sz="1800" b="1">
                <a:solidFill>
                  <a:srgbClr val="FFFFFF"/>
                </a:solidFill>
                <a:latin typeface="Arial Black"/>
              </a:defRPr>
            </a:pPr>
            <a:r>
              <a:t>EDWARD WESTHOFF</a:t>
            </a:r>
          </a:p>
          <a:p>
            <a:pPr>
              <a:spcBef>
                <a:spcPts val="200"/>
              </a:spcBef>
              <a:defRPr sz="1000" b="1">
                <a:solidFill>
                  <a:srgbClr val="FF6B00"/>
                </a:solidFill>
                <a:latin typeface="Arial Black"/>
              </a:defRPr>
            </a:pPr>
            <a:r>
              <a:t>Oprichter &amp; Hoofdtrainer · TT Clinics</a:t>
            </a:r>
          </a:p>
          <a:p>
            <a:pPr>
              <a:spcBef>
                <a:spcPts val="1000"/>
              </a:spcBef>
              <a:defRPr sz="1000" i="1">
                <a:solidFill>
                  <a:srgbClr val="D2D2D7"/>
                </a:solidFill>
                <a:latin typeface="Arial"/>
              </a:defRPr>
            </a:pPr>
            <a:r>
              <a:t>"TT Clinics is het bewijs dat de mooiste dingen soms heel klein beginnen. Wat startte als een bescheiden clubje op de woensdagmorgen, is inmiddels uitgegroeid tot een professionele partner voor bedrijfsvitaliteit. Tafeltennis is dé manier om laagdrempelig in beweging te komen en als team onvergetelijk plezier te maken."</a:t>
            </a:r>
          </a:p>
          <a:p>
            <a:pPr>
              <a:spcBef>
                <a:spcPts val="1200"/>
              </a:spcBef>
              <a:defRPr sz="950" b="1">
                <a:solidFill>
                  <a:srgbClr val="FF9A4D"/>
                </a:solidFill>
                <a:latin typeface="Arial Black"/>
              </a:defRPr>
            </a:pPr>
            <a:r>
              <a:t>★ 15+ Jaren Ervaring    ★ 500+ Spelers Gecoacht    ★ Heel Nederland</a:t>
            </a:r>
          </a:p>
        </p:txBody>
      </p:sp>
      <p:sp>
        <p:nvSpPr>
          <p:cNvPr id="13" name="Rounded Rectangle 12"/>
          <p:cNvSpPr/>
          <p:nvPr/>
        </p:nvSpPr>
        <p:spPr>
          <a:xfrm>
            <a:off x="7818120" y="1645920"/>
            <a:ext cx="3639312" cy="4572000"/>
          </a:xfrm>
          <a:prstGeom prst="roundRect">
            <a:avLst/>
          </a:prstGeom>
          <a:solidFill>
            <a:srgbClr val="1C1C22"/>
          </a:solidFill>
          <a:ln w="12700">
            <a:solidFill>
              <a:srgbClr val="323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18120" y="1645920"/>
            <a:ext cx="363931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920240"/>
            <a:ext cx="3090672" cy="3931920"/>
          </a:xfrm>
          <a:prstGeom prst="rect">
            <a:avLst/>
          </a:prstGeom>
          <a:noFill/>
        </p:spPr>
        <p:txBody>
          <a:bodyPr wrap="square" lIns="0" tIns="0">
            <a:spAutoFit/>
          </a:bodyPr>
          <a:lstStyle/>
          <a:p>
            <a:pPr>
              <a:defRPr sz="1400" b="1">
                <a:solidFill>
                  <a:srgbClr val="FFFFFF"/>
                </a:solidFill>
                <a:latin typeface="Arial Black"/>
              </a:defRPr>
            </a:pPr>
            <a:r>
              <a:t>DIRECT CONTACT</a:t>
            </a:r>
          </a:p>
          <a:p>
            <a:pPr>
              <a:spcBef>
                <a:spcPts val="600"/>
              </a:spcBef>
              <a:defRPr sz="1000">
                <a:solidFill>
                  <a:srgbClr val="D2D2D7"/>
                </a:solidFill>
                <a:latin typeface="Arial"/>
              </a:defRPr>
            </a:pPr>
            <a:r>
              <a:t>E-mail: info@ttclinics.nl</a:t>
            </a:r>
          </a:p>
          <a:p>
            <a:pPr>
              <a:spcBef>
                <a:spcPts val="600"/>
              </a:spcBef>
              <a:defRPr sz="1000">
                <a:solidFill>
                  <a:srgbClr val="D2D2D7"/>
                </a:solidFill>
                <a:latin typeface="Arial"/>
              </a:defRPr>
            </a:pPr>
            <a:r>
              <a:t>Telefoon: 06 - 12345678</a:t>
            </a:r>
          </a:p>
          <a:p>
            <a:pPr>
              <a:spcBef>
                <a:spcPts val="600"/>
              </a:spcBef>
              <a:defRPr sz="1000">
                <a:solidFill>
                  <a:srgbClr val="D2D2D7"/>
                </a:solidFill>
                <a:latin typeface="Arial"/>
              </a:defRPr>
            </a:pPr>
            <a:r>
              <a:t>Website: www.ttclinics.nl</a:t>
            </a:r>
          </a:p>
          <a:p>
            <a:pPr>
              <a:spcBef>
                <a:spcPts val="600"/>
              </a:spcBef>
              <a:defRPr sz="1000">
                <a:solidFill>
                  <a:srgbClr val="D2D2D7"/>
                </a:solidFill>
                <a:latin typeface="Arial"/>
              </a:defRPr>
            </a:pPr>
            <a:r>
              <a:t>Locaties: Op kantoor &amp; sportzalen</a:t>
            </a:r>
          </a:p>
        </p:txBody>
      </p:sp>
      <p:pic>
        <p:nvPicPr>
          <p:cNvPr id="16" name="Picture 15" descr="qr-ttclinics.png"/>
          <p:cNvPicPr>
            <a:picLocks noChangeAspect="1"/>
          </p:cNvPicPr>
          <p:nvPr/>
        </p:nvPicPr>
        <p:blipFill>
          <a:blip r:embed="rId4"/>
          <a:stretch>
            <a:fillRect/>
          </a:stretch>
        </p:blipFill>
        <p:spPr>
          <a:xfrm>
            <a:off x="8961120" y="4480560"/>
            <a:ext cx="1371600" cy="1371600"/>
          </a:xfrm>
          <a:prstGeom prst="rect">
            <a:avLst/>
          </a:prstGeom>
        </p:spPr>
      </p:pic>
      <p:sp>
        <p:nvSpPr>
          <p:cNvPr id="17" name="TextBox 16"/>
          <p:cNvSpPr txBox="1"/>
          <p:nvPr/>
        </p:nvSpPr>
        <p:spPr>
          <a:xfrm>
            <a:off x="8092440" y="5943600"/>
            <a:ext cx="3090672" cy="365760"/>
          </a:xfrm>
          <a:prstGeom prst="rect">
            <a:avLst/>
          </a:prstGeom>
          <a:noFill/>
        </p:spPr>
        <p:txBody>
          <a:bodyPr wrap="none">
            <a:spAutoFit/>
          </a:bodyPr>
          <a:lstStyle/>
          <a:p>
            <a:pPr algn="ctr">
              <a:defRPr sz="850">
                <a:solidFill>
                  <a:srgbClr val="8C8C96"/>
                </a:solidFill>
                <a:latin typeface="Arial"/>
              </a:defRPr>
            </a:pPr>
            <a:r>
              <a:t>Scan voor website &amp; team clinics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